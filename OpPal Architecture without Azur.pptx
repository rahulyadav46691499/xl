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Inter" panose="02000503000000020004" pitchFamily="34"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OpPal is an agentic analytics and governance platform for regulated industries. This deck shows the system on one diagram, then follows one chat question hop by hop, then the stages inside the chat engine, then how a write-back is approved and reversed. The strip on this slide is the short version of the request path: browser, auth middleware, chat engine, the MCP data gate, the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Numbers 1 to 7 follow one chat question. 1: the browser sends it with a bearer token. 2: the middleware rejects any /api call without a valid token and passes the rest to the route guard. 3: the route guard re-resolves the user and checks the route’s permission and line-of-business scope. 4: the chat orchestrator grounds the question in the Context Brain. 5: it may call the LLM provider, always with PHI scrubbed first. 6: it sends SQL through the MCP data gate. 7: the gate runs one read-only, scope-restricted statement on the warehouse. Letters are side paths: B, a simulation is promoted into a proposed action; A, an action approved by two officers is written out by a governed adapter. Red tiles are controls. The band at the bottom applies to every call: the hash-chained audit ledger, the 0.85 trust gate, the PHI guard and the FinOps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list for the diagram. The four places that deny by default are steps 1, 2 and 6, plus the per-route permission check inside step 2: the middleware, the principal re-resolution, the route permission, and the MCP execute() method that no connector can override. Step 5 is optional: with the mock provider the whole pipeline runs on rules, with no network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happens inside the Chat tile, in agents/orchestrator.py. Every stage appends to the audit list returned with the answer. Three of the stages can call an LLM: intent routing, SQL generation and narration; with the mock provider all of them run on rules. The fallback ladder is the important part: if model-written SQL is refused by ABAC, is missing the expected metric column, or fails a validation gate, it is retried against a governed template, so a model can never widen scope or silently change what a metric means. Below 0.85 trust the SQL is withheld and the question is routed to the review queue. On this branch the Chat tab can also use the LangChain SQL agent, which runs its queries through the same governed data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side paths B and A on the diagram, end to end. The simulator forks the Brain as a deep copy and applies overrides only to the copy; overrides can never target SQL, formulas, tables or time columns. Promotion proposes a Phase-4 action and writes nothing. The action then needs two distinct compliance officers, which is why two officer accounts ship with the demo, and the trust gate must clear before a governed adapter executes it. The two audit chains share one file on purpose so Governance shows one timeline; merging them would cause false tamper alerts. PROTECTED_KEYS in brain_governance.py is the one deliberate hardcoded exception to the no-literals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4" y="812774"/>
            <a:ext cx="7886697" cy="391116"/>
          </a:xfrm>
          <a:prstGeom prst="rect">
            <a:avLst/>
          </a:prstGeom>
          <a:noFill/>
          <a:ln/>
        </p:spPr>
        <p:txBody>
          <a:bodyPr wrap="square" lIns="0" tIns="0" rIns="0" bIns="0" rtlCol="0" anchor="t"/>
          <a:lstStyle>
            <a:lvl1pPr algn="l" indent="0" marL="0">
              <a:lnSpc>
                <a:spcPct val="115000"/>
              </a:lnSpc>
              <a:buNone/>
              <a:defRPr lang="en-US" sz="2800" dirty="0">
                <a:solidFill>
                  <a:srgbClr val="C43D14"/>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74" y="1508691"/>
            <a:ext cx="10566426" cy="4536509"/>
          </a:xfrm>
          <a:prstGeom prst="rect">
            <a:avLst/>
          </a:prstGeom>
          <a:noFill/>
          <a:ln/>
        </p:spPr>
        <p:txBody>
          <a:bodyPr wrap="square" lIns="0" tIns="0" rIns="0" bIns="0" rtlCol="0" anchor="t"/>
          <a:lstStyle>
            <a:lvl1pPr algn="l" indent="0" marL="0">
              <a:lnSpc>
                <a:spcPct val="140000"/>
              </a:lnSpc>
              <a:buNone/>
              <a:defRPr lang="en-US" sz="1600" dirty="0">
                <a:solidFill>
                  <a:srgbClr val="C43D1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4" y="812774"/>
            <a:ext cx="7886697" cy="391116"/>
          </a:xfrm>
          <a:prstGeom prst="rect">
            <a:avLst/>
          </a:prstGeom>
          <a:noFill/>
          <a:ln/>
        </p:spPr>
        <p:txBody>
          <a:bodyPr wrap="square" lIns="0" tIns="0" rIns="0" bIns="0" rtlCol="0" anchor="t"/>
          <a:lstStyle>
            <a:lvl1pPr algn="l" indent="0" marL="0">
              <a:lnSpc>
                <a:spcPct val="115000"/>
              </a:lnSpc>
              <a:buNone/>
              <a:defRPr lang="en-US" sz="2800" dirty="0">
                <a:solidFill>
                  <a:srgbClr val="C43D14"/>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74" y="1508691"/>
            <a:ext cx="10566426" cy="4536509"/>
          </a:xfrm>
          <a:prstGeom prst="rect">
            <a:avLst/>
          </a:prstGeom>
          <a:noFill/>
          <a:ln/>
        </p:spPr>
        <p:txBody>
          <a:bodyPr wrap="square" lIns="0" tIns="0" rIns="0" bIns="0" rtlCol="0" anchor="t"/>
          <a:lstStyle>
            <a:lvl1pPr algn="l" indent="0" marL="0">
              <a:lnSpc>
                <a:spcPct val="140000"/>
              </a:lnSpc>
              <a:buNone/>
              <a:defRPr lang="en-US" sz="1600" dirty="0">
                <a:solidFill>
                  <a:srgbClr val="C43D1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image" Target="../media/image-2-27.png"/><Relationship Id="rId28" Type="http://schemas.openxmlformats.org/officeDocument/2006/relationships/image" Target="../media/image-2-28.png"/><Relationship Id="rId29" Type="http://schemas.openxmlformats.org/officeDocument/2006/relationships/image" Target="../media/image-2-29.png"/><Relationship Id="rId30" Type="http://schemas.openxmlformats.org/officeDocument/2006/relationships/image" Target="../media/image-2-30.png"/><Relationship Id="rId31" Type="http://schemas.openxmlformats.org/officeDocument/2006/relationships/image" Target="../media/image-2-31.png"/><Relationship Id="rId32" Type="http://schemas.openxmlformats.org/officeDocument/2006/relationships/slideLayout" Target="../slideLayouts/slideLayout2.xml"/><Relationship Id="rId3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7"/>
        </a:solidFill>
      </p:bgPr>
    </p:bg>
    <p:spTree>
      <p:nvGrpSpPr>
        <p:cNvPr id="1" name=""/>
        <p:cNvGrpSpPr/>
        <p:nvPr/>
      </p:nvGrpSpPr>
      <p:grpSpPr>
        <a:xfrm>
          <a:off x="0" y="0"/>
          <a:ext cx="0" cy="0"/>
          <a:chOff x="0" y="0"/>
          <a:chExt cx="0" cy="0"/>
        </a:xfrm>
      </p:grpSpPr>
      <p:sp>
        <p:nvSpPr>
          <p:cNvPr id="2" name="Shape 0"/>
          <p:cNvSpPr/>
          <p:nvPr/>
        </p:nvSpPr>
        <p:spPr>
          <a:xfrm>
            <a:off x="812774" y="1671578"/>
            <a:ext cx="761962" cy="50758"/>
          </a:xfrm>
          <a:prstGeom prst="roundRect">
            <a:avLst>
              <a:gd name="adj" fmla="val 50000"/>
            </a:avLst>
          </a:prstGeom>
          <a:solidFill>
            <a:srgbClr val="FF8A5C"/>
          </a:solidFill>
          <a:ln/>
        </p:spPr>
      </p:sp>
      <p:sp>
        <p:nvSpPr>
          <p:cNvPr id="3" name="Text 1"/>
          <p:cNvSpPr/>
          <p:nvPr/>
        </p:nvSpPr>
        <p:spPr>
          <a:xfrm>
            <a:off x="812774" y="1976287"/>
            <a:ext cx="10883437" cy="309838"/>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FF8A5C"/>
                </a:solidFill>
                <a:latin typeface="Inter" pitchFamily="34" charset="0"/>
                <a:ea typeface="Inter" pitchFamily="34" charset="-122"/>
                <a:cs typeface="Inter" pitchFamily="34" charset="-120"/>
              </a:rPr>
              <a:t>ARCHITECTURE OVERVIEW</a:t>
            </a:r>
            <a:endParaRPr lang="en-US" sz="1600" dirty="0"/>
          </a:p>
        </p:txBody>
      </p:sp>
      <p:sp>
        <p:nvSpPr>
          <p:cNvPr id="4" name="Text 2"/>
          <p:cNvSpPr/>
          <p:nvPr>
            <p:ph type="title"/>
          </p:nvPr>
        </p:nvSpPr>
        <p:spPr>
          <a:xfrm>
            <a:off x="812774" y="2514676"/>
            <a:ext cx="10883437" cy="69590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E8EAED"/>
                </a:solidFill>
                <a:latin typeface="Inter" pitchFamily="34" charset="0"/>
                <a:ea typeface="Inter" pitchFamily="34" charset="-122"/>
                <a:cs typeface="Inter" pitchFamily="34" charset="-120"/>
              </a:rPr>
              <a:t>OpPal, high-level architecture</a:t>
            </a:r>
            <a:endParaRPr lang="en-US" sz="4800" dirty="0"/>
          </a:p>
        </p:txBody>
      </p:sp>
      <p:sp>
        <p:nvSpPr>
          <p:cNvPr id="5" name="Text 3"/>
          <p:cNvSpPr/>
          <p:nvPr/>
        </p:nvSpPr>
        <p:spPr>
          <a:xfrm>
            <a:off x="812774" y="3439128"/>
            <a:ext cx="8502610" cy="59427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3ABB5"/>
                </a:solidFill>
                <a:latin typeface="Inter" pitchFamily="34" charset="0"/>
                <a:ea typeface="Inter" pitchFamily="34" charset="-122"/>
                <a:cs typeface="Inter" pitchFamily="34" charset="-120"/>
              </a:rPr>
              <a:t>A plain-English question becomes a scoped, read-only, audited answer. Any write needs two signatures.</a:t>
            </a:r>
            <a:endParaRPr lang="en-US" sz="1600" dirty="0"/>
          </a:p>
        </p:txBody>
      </p:sp>
      <p:sp>
        <p:nvSpPr>
          <p:cNvPr id="6" name="Shape 4"/>
          <p:cNvSpPr/>
          <p:nvPr/>
        </p:nvSpPr>
        <p:spPr>
          <a:xfrm>
            <a:off x="1092158" y="4261956"/>
            <a:ext cx="457199" cy="457199"/>
          </a:xfrm>
          <a:prstGeom prst="roundRect">
            <a:avLst>
              <a:gd name="adj" fmla="val 16667"/>
            </a:avLst>
          </a:prstGeom>
          <a:solidFill>
            <a:srgbClr val="6F7883"/>
          </a:solidFill>
          <a:ln/>
        </p:spPr>
      </p:sp>
      <p:pic>
        <p:nvPicPr>
          <p:cNvPr id="7" name="Image 0" descr="Globe">    </p:cNvPr>
          <p:cNvPicPr>
            <a:picLocks noChangeAspect="1"/>
          </p:cNvPicPr>
          <p:nvPr/>
        </p:nvPicPr>
        <p:blipFill>
          <a:blip r:embed="rId1"/>
          <a:srcRect l="0" r="0" t="0" b="0"/>
          <a:stretch/>
        </p:blipFill>
        <p:spPr>
          <a:xfrm>
            <a:off x="1193782" y="4363579"/>
            <a:ext cx="253951" cy="253951"/>
          </a:xfrm>
          <a:prstGeom prst="rect">
            <a:avLst/>
          </a:prstGeom>
        </p:spPr>
      </p:pic>
      <p:sp>
        <p:nvSpPr>
          <p:cNvPr id="8" name="Text 5"/>
          <p:cNvSpPr/>
          <p:nvPr/>
        </p:nvSpPr>
        <p:spPr>
          <a:xfrm>
            <a:off x="964074" y="4769912"/>
            <a:ext cx="713367" cy="23870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3ABB5"/>
                </a:solidFill>
                <a:latin typeface="Inter" pitchFamily="34" charset="0"/>
                <a:ea typeface="Inter" pitchFamily="34" charset="-122"/>
                <a:cs typeface="Inter" pitchFamily="34" charset="-120"/>
              </a:rPr>
              <a:t>Browser</a:t>
            </a:r>
            <a:endParaRPr lang="en-US" sz="1200" dirty="0"/>
          </a:p>
        </p:txBody>
      </p:sp>
      <p:pic>
        <p:nvPicPr>
          <p:cNvPr id="9" name="Image 1" descr="connector">    </p:cNvPr>
          <p:cNvPicPr>
            <a:picLocks noChangeAspect="1"/>
          </p:cNvPicPr>
          <p:nvPr/>
        </p:nvPicPr>
        <p:blipFill>
          <a:blip r:embed="rId2"/>
          <a:srcRect l="-13" r="-13" t="0" b="0"/>
          <a:stretch/>
        </p:blipFill>
        <p:spPr>
          <a:xfrm>
            <a:off x="1828742" y="4484170"/>
            <a:ext cx="406387" cy="101570"/>
          </a:xfrm>
          <a:prstGeom prst="rect">
            <a:avLst/>
          </a:prstGeom>
        </p:spPr>
      </p:pic>
      <p:sp>
        <p:nvSpPr>
          <p:cNvPr id="10" name="Shape 6"/>
          <p:cNvSpPr/>
          <p:nvPr/>
        </p:nvSpPr>
        <p:spPr>
          <a:xfrm>
            <a:off x="2514513" y="4261956"/>
            <a:ext cx="457199" cy="457199"/>
          </a:xfrm>
          <a:prstGeom prst="roundRect">
            <a:avLst>
              <a:gd name="adj" fmla="val 16667"/>
            </a:avLst>
          </a:prstGeom>
          <a:solidFill>
            <a:srgbClr val="E0353E"/>
          </a:solidFill>
          <a:ln/>
        </p:spPr>
      </p:sp>
      <p:pic>
        <p:nvPicPr>
          <p:cNvPr id="11" name="Image 2" descr="Lock">    </p:cNvPr>
          <p:cNvPicPr>
            <a:picLocks noChangeAspect="1"/>
          </p:cNvPicPr>
          <p:nvPr/>
        </p:nvPicPr>
        <p:blipFill>
          <a:blip r:embed="rId3"/>
          <a:srcRect l="0" r="0" t="0" b="0"/>
          <a:stretch/>
        </p:blipFill>
        <p:spPr>
          <a:xfrm>
            <a:off x="2616137" y="4363579"/>
            <a:ext cx="253951" cy="253951"/>
          </a:xfrm>
          <a:prstGeom prst="rect">
            <a:avLst/>
          </a:prstGeom>
        </p:spPr>
      </p:pic>
      <p:sp>
        <p:nvSpPr>
          <p:cNvPr id="12" name="Text 7"/>
          <p:cNvSpPr/>
          <p:nvPr/>
        </p:nvSpPr>
        <p:spPr>
          <a:xfrm>
            <a:off x="2240226" y="4769912"/>
            <a:ext cx="1005718" cy="23870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3ABB5"/>
                </a:solidFill>
                <a:latin typeface="Inter" pitchFamily="34" charset="0"/>
                <a:ea typeface="Inter" pitchFamily="34" charset="-122"/>
                <a:cs typeface="Inter" pitchFamily="34" charset="-120"/>
              </a:rPr>
              <a:t>Middleware</a:t>
            </a:r>
            <a:endParaRPr lang="en-US" sz="1200" dirty="0"/>
          </a:p>
        </p:txBody>
      </p:sp>
      <p:pic>
        <p:nvPicPr>
          <p:cNvPr id="13" name="Image 3" descr="connector">    </p:cNvPr>
          <p:cNvPicPr>
            <a:picLocks noChangeAspect="1"/>
          </p:cNvPicPr>
          <p:nvPr/>
        </p:nvPicPr>
        <p:blipFill>
          <a:blip r:embed="rId4"/>
          <a:srcRect l="-13" r="-13" t="0" b="0"/>
          <a:stretch/>
        </p:blipFill>
        <p:spPr>
          <a:xfrm>
            <a:off x="3251096" y="4484170"/>
            <a:ext cx="406387" cy="101570"/>
          </a:xfrm>
          <a:prstGeom prst="rect">
            <a:avLst/>
          </a:prstGeom>
        </p:spPr>
      </p:pic>
      <p:sp>
        <p:nvSpPr>
          <p:cNvPr id="14" name="Shape 8"/>
          <p:cNvSpPr/>
          <p:nvPr/>
        </p:nvSpPr>
        <p:spPr>
          <a:xfrm>
            <a:off x="3936868" y="4261956"/>
            <a:ext cx="457199" cy="457199"/>
          </a:xfrm>
          <a:prstGeom prst="roundRect">
            <a:avLst>
              <a:gd name="adj" fmla="val 16667"/>
            </a:avLst>
          </a:prstGeom>
          <a:solidFill>
            <a:srgbClr val="D45F00"/>
          </a:solidFill>
          <a:ln/>
        </p:spPr>
      </p:sp>
      <p:pic>
        <p:nvPicPr>
          <p:cNvPr id="15" name="Image 4" descr="Chat">    </p:cNvPr>
          <p:cNvPicPr>
            <a:picLocks noChangeAspect="1"/>
          </p:cNvPicPr>
          <p:nvPr/>
        </p:nvPicPr>
        <p:blipFill>
          <a:blip r:embed="rId5"/>
          <a:srcRect l="0" r="0" t="0" b="0"/>
          <a:stretch/>
        </p:blipFill>
        <p:spPr>
          <a:xfrm>
            <a:off x="4038491" y="4363579"/>
            <a:ext cx="253951" cy="253951"/>
          </a:xfrm>
          <a:prstGeom prst="rect">
            <a:avLst/>
          </a:prstGeom>
        </p:spPr>
      </p:pic>
      <p:sp>
        <p:nvSpPr>
          <p:cNvPr id="16" name="Text 9"/>
          <p:cNvSpPr/>
          <p:nvPr/>
        </p:nvSpPr>
        <p:spPr>
          <a:xfrm>
            <a:off x="3963344" y="4769912"/>
            <a:ext cx="404192" cy="23870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3ABB5"/>
                </a:solidFill>
                <a:latin typeface="Inter" pitchFamily="34" charset="0"/>
                <a:ea typeface="Inter" pitchFamily="34" charset="-122"/>
                <a:cs typeface="Inter" pitchFamily="34" charset="-120"/>
              </a:rPr>
              <a:t>Chat</a:t>
            </a:r>
            <a:endParaRPr lang="en-US" sz="1200" dirty="0"/>
          </a:p>
        </p:txBody>
      </p:sp>
      <p:pic>
        <p:nvPicPr>
          <p:cNvPr id="17" name="Image 5" descr="connector">    </p:cNvPr>
          <p:cNvPicPr>
            <a:picLocks noChangeAspect="1"/>
          </p:cNvPicPr>
          <p:nvPr/>
        </p:nvPicPr>
        <p:blipFill>
          <a:blip r:embed="rId6"/>
          <a:srcRect l="-13" r="-13" t="0" b="0"/>
          <a:stretch/>
        </p:blipFill>
        <p:spPr>
          <a:xfrm>
            <a:off x="4673451" y="4484170"/>
            <a:ext cx="406387" cy="101570"/>
          </a:xfrm>
          <a:prstGeom prst="rect">
            <a:avLst/>
          </a:prstGeom>
        </p:spPr>
      </p:pic>
      <p:sp>
        <p:nvSpPr>
          <p:cNvPr id="18" name="Shape 10"/>
          <p:cNvSpPr/>
          <p:nvPr/>
        </p:nvSpPr>
        <p:spPr>
          <a:xfrm>
            <a:off x="5359222" y="4261956"/>
            <a:ext cx="457199" cy="457199"/>
          </a:xfrm>
          <a:prstGeom prst="roundRect">
            <a:avLst>
              <a:gd name="adj" fmla="val 16667"/>
            </a:avLst>
          </a:prstGeom>
          <a:solidFill>
            <a:srgbClr val="E0353E"/>
          </a:solidFill>
          <a:ln/>
        </p:spPr>
      </p:sp>
      <p:pic>
        <p:nvPicPr>
          <p:cNvPr id="19" name="Image 6" descr="Verified">    </p:cNvPr>
          <p:cNvPicPr>
            <a:picLocks noChangeAspect="1"/>
          </p:cNvPicPr>
          <p:nvPr/>
        </p:nvPicPr>
        <p:blipFill>
          <a:blip r:embed="rId7"/>
          <a:srcRect l="0" r="0" t="0" b="0"/>
          <a:stretch/>
        </p:blipFill>
        <p:spPr>
          <a:xfrm>
            <a:off x="5460846" y="4363579"/>
            <a:ext cx="253951" cy="253951"/>
          </a:xfrm>
          <a:prstGeom prst="rect">
            <a:avLst/>
          </a:prstGeom>
        </p:spPr>
      </p:pic>
      <p:sp>
        <p:nvSpPr>
          <p:cNvPr id="20" name="Text 11"/>
          <p:cNvSpPr/>
          <p:nvPr/>
        </p:nvSpPr>
        <p:spPr>
          <a:xfrm>
            <a:off x="5173359" y="4769912"/>
            <a:ext cx="828925" cy="23870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3ABB5"/>
                </a:solidFill>
                <a:latin typeface="Inter" pitchFamily="34" charset="0"/>
                <a:ea typeface="Inter" pitchFamily="34" charset="-122"/>
                <a:cs typeface="Inter" pitchFamily="34" charset="-120"/>
              </a:rPr>
              <a:t>Data gate</a:t>
            </a:r>
            <a:endParaRPr lang="en-US" sz="1200" dirty="0"/>
          </a:p>
        </p:txBody>
      </p:sp>
      <p:pic>
        <p:nvPicPr>
          <p:cNvPr id="21" name="Image 7" descr="connector">    </p:cNvPr>
          <p:cNvPicPr>
            <a:picLocks noChangeAspect="1"/>
          </p:cNvPicPr>
          <p:nvPr/>
        </p:nvPicPr>
        <p:blipFill>
          <a:blip r:embed="rId8"/>
          <a:srcRect l="-13" r="-13" t="0" b="0"/>
          <a:stretch/>
        </p:blipFill>
        <p:spPr>
          <a:xfrm>
            <a:off x="6095806" y="4484170"/>
            <a:ext cx="406387" cy="101570"/>
          </a:xfrm>
          <a:prstGeom prst="rect">
            <a:avLst/>
          </a:prstGeom>
        </p:spPr>
      </p:pic>
      <p:sp>
        <p:nvSpPr>
          <p:cNvPr id="22" name="Shape 12"/>
          <p:cNvSpPr/>
          <p:nvPr/>
        </p:nvSpPr>
        <p:spPr>
          <a:xfrm>
            <a:off x="6781577" y="4261956"/>
            <a:ext cx="457199" cy="457199"/>
          </a:xfrm>
          <a:prstGeom prst="roundRect">
            <a:avLst>
              <a:gd name="adj" fmla="val 16667"/>
            </a:avLst>
          </a:prstGeom>
          <a:solidFill>
            <a:srgbClr val="4855D6"/>
          </a:solidFill>
          <a:ln/>
        </p:spPr>
      </p:sp>
      <p:pic>
        <p:nvPicPr>
          <p:cNvPr id="23" name="Image 8" descr="Database">    </p:cNvPr>
          <p:cNvPicPr>
            <a:picLocks noChangeAspect="1"/>
          </p:cNvPicPr>
          <p:nvPr/>
        </p:nvPicPr>
        <p:blipFill>
          <a:blip r:embed="rId9"/>
          <a:srcRect l="0" r="0" t="0" b="0"/>
          <a:stretch/>
        </p:blipFill>
        <p:spPr>
          <a:xfrm>
            <a:off x="6883201" y="4363579"/>
            <a:ext cx="253951" cy="253951"/>
          </a:xfrm>
          <a:prstGeom prst="rect">
            <a:avLst/>
          </a:prstGeom>
        </p:spPr>
      </p:pic>
      <p:sp>
        <p:nvSpPr>
          <p:cNvPr id="24" name="Text 13"/>
          <p:cNvSpPr/>
          <p:nvPr/>
        </p:nvSpPr>
        <p:spPr>
          <a:xfrm>
            <a:off x="6522675" y="4769912"/>
            <a:ext cx="975003" cy="23870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3ABB5"/>
                </a:solidFill>
                <a:latin typeface="Inter" pitchFamily="34" charset="0"/>
                <a:ea typeface="Inter" pitchFamily="34" charset="-122"/>
                <a:cs typeface="Inter" pitchFamily="34" charset="-120"/>
              </a:rPr>
              <a:t>Warehouse</a:t>
            </a:r>
            <a:endParaRPr lang="en-US" sz="1200" dirty="0"/>
          </a:p>
        </p:txBody>
      </p:sp>
      <p:sp>
        <p:nvSpPr>
          <p:cNvPr id="25" name="Text 14"/>
          <p:cNvSpPr/>
          <p:nvPr/>
        </p:nvSpPr>
        <p:spPr>
          <a:xfrm>
            <a:off x="812774" y="6238297"/>
            <a:ext cx="10883381"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5"/>
                </a:solidFill>
                <a:latin typeface="Inter" pitchFamily="34" charset="0"/>
                <a:ea typeface="Inter" pitchFamily="34" charset="-122"/>
                <a:cs typeface="Inter" pitchFamily="34" charset="-120"/>
              </a:rPr>
              <a:t>Build v14.14.0 · branch langchain-chat-agent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74" y="812774"/>
            <a:ext cx="5363158" cy="41651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C43D14"/>
                </a:solidFill>
                <a:latin typeface="Inter" pitchFamily="34" charset="0"/>
                <a:ea typeface="Inter" pitchFamily="34" charset="-122"/>
                <a:cs typeface="Inter" pitchFamily="34" charset="-120"/>
              </a:rPr>
              <a:t>High-level architecture</a:t>
            </a:r>
            <a:endParaRPr lang="en-US" sz="2800" dirty="0"/>
          </a:p>
        </p:txBody>
      </p:sp>
      <p:pic>
        <p:nvPicPr>
          <p:cNvPr id="3" name="Image 0" descr="connector">    </p:cNvPr>
          <p:cNvPicPr>
            <a:picLocks noChangeAspect="1"/>
          </p:cNvPicPr>
          <p:nvPr/>
        </p:nvPicPr>
        <p:blipFill>
          <a:blip r:embed="rId1"/>
          <a:srcRect l="-5" r="-5" t="0" b="0"/>
          <a:stretch/>
        </p:blipFill>
        <p:spPr>
          <a:xfrm>
            <a:off x="6607621" y="957547"/>
            <a:ext cx="253951" cy="101570"/>
          </a:xfrm>
          <a:prstGeom prst="rect">
            <a:avLst/>
          </a:prstGeom>
        </p:spPr>
      </p:pic>
      <p:sp>
        <p:nvSpPr>
          <p:cNvPr id="4" name="Text 1"/>
          <p:cNvSpPr/>
          <p:nvPr/>
        </p:nvSpPr>
        <p:spPr>
          <a:xfrm>
            <a:off x="6912329" y="901681"/>
            <a:ext cx="85403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Untrusted</a:t>
            </a:r>
            <a:endParaRPr lang="en-US" sz="1200" dirty="0"/>
          </a:p>
        </p:txBody>
      </p:sp>
      <p:pic>
        <p:nvPicPr>
          <p:cNvPr id="5" name="Image 1" descr="connector">    </p:cNvPr>
          <p:cNvPicPr>
            <a:picLocks noChangeAspect="1"/>
          </p:cNvPicPr>
          <p:nvPr/>
        </p:nvPicPr>
        <p:blipFill>
          <a:blip r:embed="rId2"/>
          <a:srcRect l="-5" r="-5" t="0" b="0"/>
          <a:stretch/>
        </p:blipFill>
        <p:spPr>
          <a:xfrm>
            <a:off x="7776404" y="957547"/>
            <a:ext cx="253951" cy="101570"/>
          </a:xfrm>
          <a:prstGeom prst="rect">
            <a:avLst/>
          </a:prstGeom>
        </p:spPr>
      </p:pic>
      <p:sp>
        <p:nvSpPr>
          <p:cNvPr id="6" name="Text 2"/>
          <p:cNvSpPr/>
          <p:nvPr/>
        </p:nvSpPr>
        <p:spPr>
          <a:xfrm>
            <a:off x="8081114" y="901681"/>
            <a:ext cx="853315"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Inspected</a:t>
            </a:r>
            <a:endParaRPr lang="en-US" sz="1200" dirty="0"/>
          </a:p>
        </p:txBody>
      </p:sp>
      <p:pic>
        <p:nvPicPr>
          <p:cNvPr id="7" name="Image 2" descr="connector">    </p:cNvPr>
          <p:cNvPicPr>
            <a:picLocks noChangeAspect="1"/>
          </p:cNvPicPr>
          <p:nvPr/>
        </p:nvPicPr>
        <p:blipFill>
          <a:blip r:embed="rId3"/>
          <a:srcRect l="-5" r="-5" t="0" b="0"/>
          <a:stretch/>
        </p:blipFill>
        <p:spPr>
          <a:xfrm>
            <a:off x="8944590" y="957547"/>
            <a:ext cx="253951" cy="101570"/>
          </a:xfrm>
          <a:prstGeom prst="rect">
            <a:avLst/>
          </a:prstGeom>
        </p:spPr>
      </p:pic>
      <p:sp>
        <p:nvSpPr>
          <p:cNvPr id="8" name="Text 3"/>
          <p:cNvSpPr/>
          <p:nvPr/>
        </p:nvSpPr>
        <p:spPr>
          <a:xfrm>
            <a:off x="9249300" y="901681"/>
            <a:ext cx="398061"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Data</a:t>
            </a:r>
            <a:endParaRPr lang="en-US" sz="1200" dirty="0"/>
          </a:p>
        </p:txBody>
      </p:sp>
      <p:pic>
        <p:nvPicPr>
          <p:cNvPr id="9" name="Image 3" descr="connector">    </p:cNvPr>
          <p:cNvPicPr>
            <a:picLocks noChangeAspect="1"/>
          </p:cNvPicPr>
          <p:nvPr/>
        </p:nvPicPr>
        <p:blipFill>
          <a:blip r:embed="rId4"/>
          <a:srcRect l="-5" r="-5" t="0" b="0"/>
          <a:stretch/>
        </p:blipFill>
        <p:spPr>
          <a:xfrm>
            <a:off x="9733399" y="957547"/>
            <a:ext cx="253951" cy="101570"/>
          </a:xfrm>
          <a:prstGeom prst="rect">
            <a:avLst/>
          </a:prstGeom>
        </p:spPr>
      </p:pic>
      <p:sp>
        <p:nvSpPr>
          <p:cNvPr id="10" name="Text 4"/>
          <p:cNvSpPr/>
          <p:nvPr/>
        </p:nvSpPr>
        <p:spPr>
          <a:xfrm>
            <a:off x="10038108" y="901681"/>
            <a:ext cx="587506"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Egress</a:t>
            </a:r>
            <a:endParaRPr lang="en-US" sz="1200" dirty="0"/>
          </a:p>
        </p:txBody>
      </p:sp>
      <p:pic>
        <p:nvPicPr>
          <p:cNvPr id="11" name="Image 4" descr="connector">    </p:cNvPr>
          <p:cNvPicPr>
            <a:picLocks noChangeAspect="1"/>
          </p:cNvPicPr>
          <p:nvPr/>
        </p:nvPicPr>
        <p:blipFill>
          <a:blip r:embed="rId5"/>
          <a:srcRect l="-5" r="-5" t="0" b="0"/>
          <a:stretch/>
        </p:blipFill>
        <p:spPr>
          <a:xfrm>
            <a:off x="10680078" y="957547"/>
            <a:ext cx="253951" cy="101570"/>
          </a:xfrm>
          <a:prstGeom prst="rect">
            <a:avLst/>
          </a:prstGeom>
        </p:spPr>
      </p:pic>
      <p:sp>
        <p:nvSpPr>
          <p:cNvPr id="12" name="Text 5"/>
          <p:cNvSpPr/>
          <p:nvPr/>
        </p:nvSpPr>
        <p:spPr>
          <a:xfrm>
            <a:off x="10984786" y="901681"/>
            <a:ext cx="47325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Rules</a:t>
            </a:r>
            <a:endParaRPr lang="en-US" sz="1200" dirty="0"/>
          </a:p>
        </p:txBody>
      </p:sp>
      <p:sp>
        <p:nvSpPr>
          <p:cNvPr id="13" name="Shape 6"/>
          <p:cNvSpPr/>
          <p:nvPr/>
        </p:nvSpPr>
        <p:spPr>
          <a:xfrm>
            <a:off x="819124" y="1428704"/>
            <a:ext cx="1460467" cy="4114753"/>
          </a:xfrm>
          <a:prstGeom prst="roundRect">
            <a:avLst>
              <a:gd name="adj" fmla="val 3044"/>
            </a:avLst>
          </a:prstGeom>
          <a:solidFill>
            <a:srgbClr val="F2F4F6"/>
          </a:solidFill>
          <a:ln w="12700">
            <a:solidFill>
              <a:srgbClr val="97A0AA"/>
            </a:solidFill>
            <a:prstDash val="solid"/>
          </a:ln>
        </p:spPr>
      </p:sp>
      <p:sp>
        <p:nvSpPr>
          <p:cNvPr id="14" name="Text 7"/>
          <p:cNvSpPr/>
          <p:nvPr/>
        </p:nvSpPr>
        <p:spPr>
          <a:xfrm>
            <a:off x="901681" y="1498600"/>
            <a:ext cx="1320773"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Client</a:t>
            </a:r>
            <a:endParaRPr lang="en-US" sz="1200" dirty="0"/>
          </a:p>
        </p:txBody>
      </p:sp>
      <p:sp>
        <p:nvSpPr>
          <p:cNvPr id="15" name="Shape 8"/>
          <p:cNvSpPr/>
          <p:nvPr/>
        </p:nvSpPr>
        <p:spPr>
          <a:xfrm>
            <a:off x="2444727" y="1428704"/>
            <a:ext cx="7048479" cy="4114753"/>
          </a:xfrm>
          <a:prstGeom prst="roundRect">
            <a:avLst>
              <a:gd name="adj" fmla="val 1080"/>
            </a:avLst>
          </a:prstGeom>
          <a:solidFill>
            <a:srgbClr val="E4EDE7"/>
          </a:solidFill>
          <a:ln w="12700">
            <a:solidFill>
              <a:srgbClr val="6F9A7E"/>
            </a:solidFill>
            <a:prstDash val="solid"/>
          </a:ln>
        </p:spPr>
      </p:sp>
      <p:sp>
        <p:nvSpPr>
          <p:cNvPr id="16" name="Text 9"/>
          <p:cNvSpPr/>
          <p:nvPr/>
        </p:nvSpPr>
        <p:spPr>
          <a:xfrm>
            <a:off x="2527284" y="1485883"/>
            <a:ext cx="4578337"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OpPal backend · FastAPI</a:t>
            </a:r>
            <a:endParaRPr lang="en-US" sz="1200" dirty="0"/>
          </a:p>
        </p:txBody>
      </p:sp>
      <p:sp>
        <p:nvSpPr>
          <p:cNvPr id="17" name="Shape 10"/>
          <p:cNvSpPr/>
          <p:nvPr/>
        </p:nvSpPr>
        <p:spPr>
          <a:xfrm>
            <a:off x="2546296" y="1746238"/>
            <a:ext cx="2730494" cy="3695650"/>
          </a:xfrm>
          <a:prstGeom prst="roundRect">
            <a:avLst>
              <a:gd name="adj" fmla="val 1628"/>
            </a:avLst>
          </a:prstGeom>
          <a:solidFill>
            <a:srgbClr val="F8EAD5"/>
          </a:solidFill>
          <a:ln w="12700">
            <a:solidFill>
              <a:srgbClr val="C98F4A"/>
            </a:solidFill>
            <a:prstDash val="solid"/>
          </a:ln>
        </p:spPr>
      </p:sp>
      <p:sp>
        <p:nvSpPr>
          <p:cNvPr id="18" name="Text 11"/>
          <p:cNvSpPr/>
          <p:nvPr/>
        </p:nvSpPr>
        <p:spPr>
          <a:xfrm>
            <a:off x="2628853" y="1803363"/>
            <a:ext cx="1962136"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API edge</a:t>
            </a:r>
            <a:endParaRPr lang="en-US" sz="1200" dirty="0"/>
          </a:p>
        </p:txBody>
      </p:sp>
      <p:sp>
        <p:nvSpPr>
          <p:cNvPr id="19" name="Shape 12"/>
          <p:cNvSpPr/>
          <p:nvPr/>
        </p:nvSpPr>
        <p:spPr>
          <a:xfrm>
            <a:off x="5391114" y="1746238"/>
            <a:ext cx="4000467" cy="2349486"/>
          </a:xfrm>
          <a:prstGeom prst="roundRect">
            <a:avLst>
              <a:gd name="adj" fmla="val 1892"/>
            </a:avLst>
          </a:prstGeom>
          <a:solidFill>
            <a:srgbClr val="FDF6E9"/>
          </a:solidFill>
          <a:ln w="12700">
            <a:solidFill>
              <a:srgbClr val="D8AC66"/>
            </a:solidFill>
            <a:prstDash val="solid"/>
          </a:ln>
        </p:spPr>
      </p:sp>
      <p:sp>
        <p:nvSpPr>
          <p:cNvPr id="20" name="Text 13"/>
          <p:cNvSpPr/>
          <p:nvPr/>
        </p:nvSpPr>
        <p:spPr>
          <a:xfrm>
            <a:off x="5473672" y="1803363"/>
            <a:ext cx="1962136"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Engines</a:t>
            </a:r>
            <a:endParaRPr lang="en-US" sz="1200" dirty="0"/>
          </a:p>
        </p:txBody>
      </p:sp>
      <p:sp>
        <p:nvSpPr>
          <p:cNvPr id="21" name="Shape 14"/>
          <p:cNvSpPr/>
          <p:nvPr/>
        </p:nvSpPr>
        <p:spPr>
          <a:xfrm>
            <a:off x="7981927" y="4210048"/>
            <a:ext cx="1409655" cy="1231894"/>
          </a:xfrm>
          <a:prstGeom prst="roundRect">
            <a:avLst>
              <a:gd name="adj" fmla="val 3608"/>
            </a:avLst>
          </a:prstGeom>
          <a:solidFill>
            <a:srgbClr val="DCEBF6"/>
          </a:solidFill>
          <a:ln w="12700">
            <a:solidFill>
              <a:srgbClr val="5B93C2"/>
            </a:solidFill>
            <a:prstDash val="solid"/>
          </a:ln>
        </p:spPr>
      </p:sp>
      <p:sp>
        <p:nvSpPr>
          <p:cNvPr id="22" name="Text 15"/>
          <p:cNvSpPr/>
          <p:nvPr/>
        </p:nvSpPr>
        <p:spPr>
          <a:xfrm>
            <a:off x="8064484" y="4267173"/>
            <a:ext cx="1295394"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Data tier</a:t>
            </a:r>
            <a:endParaRPr lang="en-US" sz="1200" dirty="0"/>
          </a:p>
        </p:txBody>
      </p:sp>
      <p:sp>
        <p:nvSpPr>
          <p:cNvPr id="23" name="Shape 16"/>
          <p:cNvSpPr/>
          <p:nvPr/>
        </p:nvSpPr>
        <p:spPr>
          <a:xfrm>
            <a:off x="9658341" y="1428704"/>
            <a:ext cx="1714472" cy="4114753"/>
          </a:xfrm>
          <a:prstGeom prst="roundRect">
            <a:avLst>
              <a:gd name="adj" fmla="val 2593"/>
            </a:avLst>
          </a:prstGeom>
          <a:solidFill>
            <a:srgbClr val="F8E2E2"/>
          </a:solidFill>
          <a:ln w="12700">
            <a:solidFill>
              <a:srgbClr val="CF7C7C"/>
            </a:solidFill>
            <a:prstDash val="dash"/>
          </a:ln>
        </p:spPr>
      </p:sp>
      <p:sp>
        <p:nvSpPr>
          <p:cNvPr id="24" name="Text 17"/>
          <p:cNvSpPr/>
          <p:nvPr/>
        </p:nvSpPr>
        <p:spPr>
          <a:xfrm>
            <a:off x="9740898" y="1498600"/>
            <a:ext cx="1574779"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Third party</a:t>
            </a:r>
            <a:endParaRPr lang="en-US" sz="1200" dirty="0"/>
          </a:p>
        </p:txBody>
      </p:sp>
      <p:sp>
        <p:nvSpPr>
          <p:cNvPr id="25" name="Shape 18"/>
          <p:cNvSpPr/>
          <p:nvPr/>
        </p:nvSpPr>
        <p:spPr>
          <a:xfrm>
            <a:off x="2444727" y="5657836"/>
            <a:ext cx="7048479" cy="685788"/>
          </a:xfrm>
          <a:prstGeom prst="roundRect">
            <a:avLst>
              <a:gd name="adj" fmla="val 6482"/>
            </a:avLst>
          </a:prstGeom>
          <a:solidFill>
            <a:srgbClr val="ECEFFA"/>
          </a:solidFill>
          <a:ln w="12700">
            <a:solidFill>
              <a:srgbClr val="7680C4"/>
            </a:solidFill>
            <a:prstDash val="solid"/>
          </a:ln>
        </p:spPr>
      </p:sp>
      <p:sp>
        <p:nvSpPr>
          <p:cNvPr id="26" name="Text 19"/>
          <p:cNvSpPr/>
          <p:nvPr/>
        </p:nvSpPr>
        <p:spPr>
          <a:xfrm>
            <a:off x="2527284" y="5714960"/>
            <a:ext cx="3924273"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Shared controls · every call</a:t>
            </a:r>
            <a:endParaRPr lang="en-US" sz="1200" dirty="0"/>
          </a:p>
        </p:txBody>
      </p:sp>
      <p:sp>
        <p:nvSpPr>
          <p:cNvPr id="27" name="Shape 20"/>
          <p:cNvSpPr/>
          <p:nvPr/>
        </p:nvSpPr>
        <p:spPr>
          <a:xfrm>
            <a:off x="1346164" y="3174960"/>
            <a:ext cx="406387" cy="406387"/>
          </a:xfrm>
          <a:prstGeom prst="roundRect">
            <a:avLst>
              <a:gd name="adj" fmla="val 18751"/>
            </a:avLst>
          </a:prstGeom>
          <a:solidFill>
            <a:srgbClr val="5F6873"/>
          </a:solidFill>
          <a:ln/>
        </p:spPr>
      </p:sp>
      <p:pic>
        <p:nvPicPr>
          <p:cNvPr id="28" name="Image 5" descr="Globe">    </p:cNvPr>
          <p:cNvPicPr>
            <a:picLocks noChangeAspect="1"/>
          </p:cNvPicPr>
          <p:nvPr/>
        </p:nvPicPr>
        <p:blipFill>
          <a:blip r:embed="rId6"/>
          <a:srcRect l="0" r="0" t="0" b="0"/>
          <a:stretch/>
        </p:blipFill>
        <p:spPr>
          <a:xfrm>
            <a:off x="1435071" y="3263867"/>
            <a:ext cx="228572" cy="228572"/>
          </a:xfrm>
          <a:prstGeom prst="rect">
            <a:avLst/>
          </a:prstGeom>
        </p:spPr>
      </p:pic>
      <p:sp>
        <p:nvSpPr>
          <p:cNvPr id="29" name="Text 21"/>
          <p:cNvSpPr/>
          <p:nvPr/>
        </p:nvSpPr>
        <p:spPr>
          <a:xfrm>
            <a:off x="888998" y="3632159"/>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Browser</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React UI</a:t>
            </a:r>
            <a:endParaRPr lang="en-US" sz="1200" dirty="0"/>
          </a:p>
        </p:txBody>
      </p:sp>
      <p:sp>
        <p:nvSpPr>
          <p:cNvPr id="30" name="Shape 22"/>
          <p:cNvSpPr/>
          <p:nvPr/>
        </p:nvSpPr>
        <p:spPr>
          <a:xfrm>
            <a:off x="3073390" y="3174960"/>
            <a:ext cx="406387" cy="406387"/>
          </a:xfrm>
          <a:prstGeom prst="roundRect">
            <a:avLst>
              <a:gd name="adj" fmla="val 18751"/>
            </a:avLst>
          </a:prstGeom>
          <a:solidFill>
            <a:srgbClr val="D6242D"/>
          </a:solidFill>
          <a:ln/>
        </p:spPr>
      </p:sp>
      <p:pic>
        <p:nvPicPr>
          <p:cNvPr id="31" name="Image 6" descr="Lock">    </p:cNvPr>
          <p:cNvPicPr>
            <a:picLocks noChangeAspect="1"/>
          </p:cNvPicPr>
          <p:nvPr/>
        </p:nvPicPr>
        <p:blipFill>
          <a:blip r:embed="rId7"/>
          <a:srcRect l="0" r="0" t="0" b="0"/>
          <a:stretch/>
        </p:blipFill>
        <p:spPr>
          <a:xfrm>
            <a:off x="3162298" y="3263867"/>
            <a:ext cx="228572" cy="228572"/>
          </a:xfrm>
          <a:prstGeom prst="rect">
            <a:avLst/>
          </a:prstGeom>
        </p:spPr>
      </p:pic>
      <p:sp>
        <p:nvSpPr>
          <p:cNvPr id="32" name="Text 23"/>
          <p:cNvSpPr/>
          <p:nvPr/>
        </p:nvSpPr>
        <p:spPr>
          <a:xfrm>
            <a:off x="2616170" y="3632159"/>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Middleware</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token check</a:t>
            </a:r>
            <a:endParaRPr lang="en-US" sz="1200" dirty="0"/>
          </a:p>
        </p:txBody>
      </p:sp>
      <p:sp>
        <p:nvSpPr>
          <p:cNvPr id="33" name="Shape 24"/>
          <p:cNvSpPr/>
          <p:nvPr/>
        </p:nvSpPr>
        <p:spPr>
          <a:xfrm>
            <a:off x="4343364" y="3174960"/>
            <a:ext cx="406387" cy="406387"/>
          </a:xfrm>
          <a:prstGeom prst="roundRect">
            <a:avLst>
              <a:gd name="adj" fmla="val 18751"/>
            </a:avLst>
          </a:prstGeom>
          <a:solidFill>
            <a:srgbClr val="A1332B"/>
          </a:solidFill>
          <a:ln/>
        </p:spPr>
      </p:sp>
      <p:pic>
        <p:nvPicPr>
          <p:cNvPr id="34" name="Image 7" descr="Key">    </p:cNvPr>
          <p:cNvPicPr>
            <a:picLocks noChangeAspect="1"/>
          </p:cNvPicPr>
          <p:nvPr/>
        </p:nvPicPr>
        <p:blipFill>
          <a:blip r:embed="rId8"/>
          <a:srcRect l="0" r="0" t="0" b="0"/>
          <a:stretch/>
        </p:blipFill>
        <p:spPr>
          <a:xfrm>
            <a:off x="4432271" y="3263867"/>
            <a:ext cx="228572" cy="228572"/>
          </a:xfrm>
          <a:prstGeom prst="rect">
            <a:avLst/>
          </a:prstGeom>
        </p:spPr>
      </p:pic>
      <p:sp>
        <p:nvSpPr>
          <p:cNvPr id="35" name="Text 25"/>
          <p:cNvSpPr/>
          <p:nvPr/>
        </p:nvSpPr>
        <p:spPr>
          <a:xfrm>
            <a:off x="3886198" y="3632159"/>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Route guard</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RBAC · ABAC</a:t>
            </a:r>
            <a:endParaRPr lang="en-US" sz="1200" dirty="0"/>
          </a:p>
        </p:txBody>
      </p:sp>
      <p:sp>
        <p:nvSpPr>
          <p:cNvPr id="36" name="Shape 26"/>
          <p:cNvSpPr/>
          <p:nvPr/>
        </p:nvSpPr>
        <p:spPr>
          <a:xfrm>
            <a:off x="5918154" y="2044652"/>
            <a:ext cx="406387" cy="406387"/>
          </a:xfrm>
          <a:prstGeom prst="roundRect">
            <a:avLst>
              <a:gd name="adj" fmla="val 18751"/>
            </a:avLst>
          </a:prstGeom>
          <a:solidFill>
            <a:srgbClr val="C45500"/>
          </a:solidFill>
          <a:ln/>
        </p:spPr>
      </p:sp>
      <p:pic>
        <p:nvPicPr>
          <p:cNvPr id="37" name="Image 8" descr="Users">    </p:cNvPr>
          <p:cNvPicPr>
            <a:picLocks noChangeAspect="1"/>
          </p:cNvPicPr>
          <p:nvPr/>
        </p:nvPicPr>
        <p:blipFill>
          <a:blip r:embed="rId9"/>
          <a:srcRect l="0" r="0" t="0" b="0"/>
          <a:stretch/>
        </p:blipFill>
        <p:spPr>
          <a:xfrm>
            <a:off x="6007061" y="2133559"/>
            <a:ext cx="228572" cy="228572"/>
          </a:xfrm>
          <a:prstGeom prst="rect">
            <a:avLst/>
          </a:prstGeom>
        </p:spPr>
      </p:pic>
      <p:sp>
        <p:nvSpPr>
          <p:cNvPr id="38" name="Text 27"/>
          <p:cNvSpPr/>
          <p:nvPr/>
        </p:nvSpPr>
        <p:spPr>
          <a:xfrm>
            <a:off x="5460988" y="2501850"/>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Pillars</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and Swarm</a:t>
            </a:r>
            <a:endParaRPr lang="en-US" sz="1200" dirty="0"/>
          </a:p>
        </p:txBody>
      </p:sp>
      <p:sp>
        <p:nvSpPr>
          <p:cNvPr id="39" name="Shape 28"/>
          <p:cNvSpPr/>
          <p:nvPr/>
        </p:nvSpPr>
        <p:spPr>
          <a:xfrm>
            <a:off x="7188181" y="2044652"/>
            <a:ext cx="406387" cy="406387"/>
          </a:xfrm>
          <a:prstGeom prst="roundRect">
            <a:avLst>
              <a:gd name="adj" fmla="val 18751"/>
            </a:avLst>
          </a:prstGeom>
          <a:solidFill>
            <a:srgbClr val="C45500"/>
          </a:solidFill>
          <a:ln/>
        </p:spPr>
      </p:sp>
      <p:pic>
        <p:nvPicPr>
          <p:cNvPr id="40" name="Image 9" descr="Activity">    </p:cNvPr>
          <p:cNvPicPr>
            <a:picLocks noChangeAspect="1"/>
          </p:cNvPicPr>
          <p:nvPr/>
        </p:nvPicPr>
        <p:blipFill>
          <a:blip r:embed="rId10"/>
          <a:srcRect l="0" r="0" t="0" b="0"/>
          <a:stretch/>
        </p:blipFill>
        <p:spPr>
          <a:xfrm>
            <a:off x="7277089" y="2133559"/>
            <a:ext cx="228572" cy="228572"/>
          </a:xfrm>
          <a:prstGeom prst="rect">
            <a:avLst/>
          </a:prstGeom>
        </p:spPr>
      </p:pic>
      <p:sp>
        <p:nvSpPr>
          <p:cNvPr id="41" name="Text 29"/>
          <p:cNvSpPr/>
          <p:nvPr/>
        </p:nvSpPr>
        <p:spPr>
          <a:xfrm>
            <a:off x="6730961" y="2501850"/>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Simulator</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forked Brain</a:t>
            </a:r>
            <a:endParaRPr lang="en-US" sz="1200" dirty="0"/>
          </a:p>
        </p:txBody>
      </p:sp>
      <p:sp>
        <p:nvSpPr>
          <p:cNvPr id="42" name="Shape 30"/>
          <p:cNvSpPr/>
          <p:nvPr/>
        </p:nvSpPr>
        <p:spPr>
          <a:xfrm>
            <a:off x="8458154" y="2044652"/>
            <a:ext cx="406387" cy="406387"/>
          </a:xfrm>
          <a:prstGeom prst="roundRect">
            <a:avLst>
              <a:gd name="adj" fmla="val 18751"/>
            </a:avLst>
          </a:prstGeom>
          <a:solidFill>
            <a:srgbClr val="C45500"/>
          </a:solidFill>
          <a:ln/>
        </p:spPr>
      </p:sp>
      <p:pic>
        <p:nvPicPr>
          <p:cNvPr id="43" name="Image 10" descr="CheckCircle">    </p:cNvPr>
          <p:cNvPicPr>
            <a:picLocks noChangeAspect="1"/>
          </p:cNvPicPr>
          <p:nvPr/>
        </p:nvPicPr>
        <p:blipFill>
          <a:blip r:embed="rId11"/>
          <a:srcRect l="0" r="0" t="0" b="0"/>
          <a:stretch/>
        </p:blipFill>
        <p:spPr>
          <a:xfrm>
            <a:off x="8547062" y="2133559"/>
            <a:ext cx="228572" cy="228572"/>
          </a:xfrm>
          <a:prstGeom prst="rect">
            <a:avLst/>
          </a:prstGeom>
        </p:spPr>
      </p:pic>
      <p:sp>
        <p:nvSpPr>
          <p:cNvPr id="44" name="Text 31"/>
          <p:cNvSpPr/>
          <p:nvPr/>
        </p:nvSpPr>
        <p:spPr>
          <a:xfrm>
            <a:off x="8000988" y="2501850"/>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Actions</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maker-checker</a:t>
            </a:r>
            <a:endParaRPr lang="en-US" sz="1200" dirty="0"/>
          </a:p>
        </p:txBody>
      </p:sp>
      <p:sp>
        <p:nvSpPr>
          <p:cNvPr id="45" name="Shape 32"/>
          <p:cNvSpPr/>
          <p:nvPr/>
        </p:nvSpPr>
        <p:spPr>
          <a:xfrm>
            <a:off x="5918154" y="3174960"/>
            <a:ext cx="406387" cy="406387"/>
          </a:xfrm>
          <a:prstGeom prst="roundRect">
            <a:avLst>
              <a:gd name="adj" fmla="val 18751"/>
            </a:avLst>
          </a:prstGeom>
          <a:solidFill>
            <a:srgbClr val="C45500"/>
          </a:solidFill>
          <a:ln/>
        </p:spPr>
      </p:sp>
      <p:pic>
        <p:nvPicPr>
          <p:cNvPr id="46" name="Image 11" descr="Chat">    </p:cNvPr>
          <p:cNvPicPr>
            <a:picLocks noChangeAspect="1"/>
          </p:cNvPicPr>
          <p:nvPr/>
        </p:nvPicPr>
        <p:blipFill>
          <a:blip r:embed="rId12"/>
          <a:srcRect l="0" r="0" t="0" b="0"/>
          <a:stretch/>
        </p:blipFill>
        <p:spPr>
          <a:xfrm>
            <a:off x="6007061" y="3263867"/>
            <a:ext cx="228572" cy="228572"/>
          </a:xfrm>
          <a:prstGeom prst="rect">
            <a:avLst/>
          </a:prstGeom>
        </p:spPr>
      </p:pic>
      <p:sp>
        <p:nvSpPr>
          <p:cNvPr id="47" name="Text 33"/>
          <p:cNvSpPr/>
          <p:nvPr/>
        </p:nvSpPr>
        <p:spPr>
          <a:xfrm>
            <a:off x="5460988" y="3632159"/>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Chat</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orchestrator</a:t>
            </a:r>
            <a:endParaRPr lang="en-US" sz="1200" dirty="0"/>
          </a:p>
        </p:txBody>
      </p:sp>
      <p:sp>
        <p:nvSpPr>
          <p:cNvPr id="48" name="Shape 34"/>
          <p:cNvSpPr/>
          <p:nvPr/>
        </p:nvSpPr>
        <p:spPr>
          <a:xfrm>
            <a:off x="5918154" y="4521178"/>
            <a:ext cx="406387" cy="406387"/>
          </a:xfrm>
          <a:prstGeom prst="roundRect">
            <a:avLst>
              <a:gd name="adj" fmla="val 18751"/>
            </a:avLst>
          </a:prstGeom>
          <a:solidFill>
            <a:srgbClr val="3C7F22"/>
          </a:solidFill>
          <a:ln/>
        </p:spPr>
      </p:sp>
      <p:pic>
        <p:nvPicPr>
          <p:cNvPr id="49" name="Image 12" descr="Book">    </p:cNvPr>
          <p:cNvPicPr>
            <a:picLocks noChangeAspect="1"/>
          </p:cNvPicPr>
          <p:nvPr/>
        </p:nvPicPr>
        <p:blipFill>
          <a:blip r:embed="rId13"/>
          <a:srcRect l="0" r="0" t="0" b="0"/>
          <a:stretch/>
        </p:blipFill>
        <p:spPr>
          <a:xfrm>
            <a:off x="6007061" y="4610085"/>
            <a:ext cx="228572" cy="228572"/>
          </a:xfrm>
          <a:prstGeom prst="rect">
            <a:avLst/>
          </a:prstGeom>
        </p:spPr>
      </p:pic>
      <p:sp>
        <p:nvSpPr>
          <p:cNvPr id="50" name="Text 35"/>
          <p:cNvSpPr/>
          <p:nvPr/>
        </p:nvSpPr>
        <p:spPr>
          <a:xfrm>
            <a:off x="5460988" y="4978377"/>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Context Brain</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Markdown</a:t>
            </a:r>
            <a:endParaRPr lang="en-US" sz="1200" dirty="0"/>
          </a:p>
        </p:txBody>
      </p:sp>
      <p:sp>
        <p:nvSpPr>
          <p:cNvPr id="51" name="Shape 36"/>
          <p:cNvSpPr/>
          <p:nvPr/>
        </p:nvSpPr>
        <p:spPr>
          <a:xfrm>
            <a:off x="7188181" y="4521178"/>
            <a:ext cx="406387" cy="406387"/>
          </a:xfrm>
          <a:prstGeom prst="roundRect">
            <a:avLst>
              <a:gd name="adj" fmla="val 18751"/>
            </a:avLst>
          </a:prstGeom>
          <a:solidFill>
            <a:srgbClr val="D6242D"/>
          </a:solidFill>
          <a:ln/>
        </p:spPr>
      </p:sp>
      <p:pic>
        <p:nvPicPr>
          <p:cNvPr id="52" name="Image 13" descr="Verified">    </p:cNvPr>
          <p:cNvPicPr>
            <a:picLocks noChangeAspect="1"/>
          </p:cNvPicPr>
          <p:nvPr/>
        </p:nvPicPr>
        <p:blipFill>
          <a:blip r:embed="rId14"/>
          <a:srcRect l="0" r="0" t="0" b="0"/>
          <a:stretch/>
        </p:blipFill>
        <p:spPr>
          <a:xfrm>
            <a:off x="7277089" y="4610085"/>
            <a:ext cx="228572" cy="228572"/>
          </a:xfrm>
          <a:prstGeom prst="rect">
            <a:avLst/>
          </a:prstGeom>
        </p:spPr>
      </p:pic>
      <p:sp>
        <p:nvSpPr>
          <p:cNvPr id="53" name="Text 37"/>
          <p:cNvSpPr/>
          <p:nvPr/>
        </p:nvSpPr>
        <p:spPr>
          <a:xfrm>
            <a:off x="6730961" y="4978377"/>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Data gate</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MCP service</a:t>
            </a:r>
            <a:endParaRPr lang="en-US" sz="1200" dirty="0"/>
          </a:p>
        </p:txBody>
      </p:sp>
      <p:sp>
        <p:nvSpPr>
          <p:cNvPr id="54" name="Shape 38"/>
          <p:cNvSpPr/>
          <p:nvPr/>
        </p:nvSpPr>
        <p:spPr>
          <a:xfrm>
            <a:off x="8458154" y="4521178"/>
            <a:ext cx="406387" cy="406387"/>
          </a:xfrm>
          <a:prstGeom prst="roundRect">
            <a:avLst>
              <a:gd name="adj" fmla="val 18751"/>
            </a:avLst>
          </a:prstGeom>
          <a:solidFill>
            <a:srgbClr val="3B48CC"/>
          </a:solidFill>
          <a:ln/>
        </p:spPr>
      </p:sp>
      <p:pic>
        <p:nvPicPr>
          <p:cNvPr id="55" name="Image 14" descr="Database">    </p:cNvPr>
          <p:cNvPicPr>
            <a:picLocks noChangeAspect="1"/>
          </p:cNvPicPr>
          <p:nvPr/>
        </p:nvPicPr>
        <p:blipFill>
          <a:blip r:embed="rId15"/>
          <a:srcRect l="0" r="0" t="0" b="0"/>
          <a:stretch/>
        </p:blipFill>
        <p:spPr>
          <a:xfrm>
            <a:off x="8547062" y="4610085"/>
            <a:ext cx="228572" cy="228572"/>
          </a:xfrm>
          <a:prstGeom prst="rect">
            <a:avLst/>
          </a:prstGeom>
        </p:spPr>
      </p:pic>
      <p:sp>
        <p:nvSpPr>
          <p:cNvPr id="56" name="Text 39"/>
          <p:cNvSpPr/>
          <p:nvPr/>
        </p:nvSpPr>
        <p:spPr>
          <a:xfrm>
            <a:off x="8000988" y="4978377"/>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Warehouse</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read-only</a:t>
            </a:r>
            <a:endParaRPr lang="en-US" sz="1200" dirty="0"/>
          </a:p>
        </p:txBody>
      </p:sp>
      <p:sp>
        <p:nvSpPr>
          <p:cNvPr id="57" name="Shape 40"/>
          <p:cNvSpPr/>
          <p:nvPr/>
        </p:nvSpPr>
        <p:spPr>
          <a:xfrm>
            <a:off x="10312384" y="2044652"/>
            <a:ext cx="406387" cy="406387"/>
          </a:xfrm>
          <a:prstGeom prst="roundRect">
            <a:avLst>
              <a:gd name="adj" fmla="val 18751"/>
            </a:avLst>
          </a:prstGeom>
          <a:solidFill>
            <a:srgbClr val="5F6873"/>
          </a:solidFill>
          <a:ln/>
        </p:spPr>
      </p:sp>
      <p:pic>
        <p:nvPicPr>
          <p:cNvPr id="58" name="Image 15" descr="PaperPlane">    </p:cNvPr>
          <p:cNvPicPr>
            <a:picLocks noChangeAspect="1"/>
          </p:cNvPicPr>
          <p:nvPr/>
        </p:nvPicPr>
        <p:blipFill>
          <a:blip r:embed="rId16"/>
          <a:srcRect l="0" r="0" t="0" b="0"/>
          <a:stretch/>
        </p:blipFill>
        <p:spPr>
          <a:xfrm>
            <a:off x="10401291" y="2133559"/>
            <a:ext cx="228572" cy="228572"/>
          </a:xfrm>
          <a:prstGeom prst="rect">
            <a:avLst/>
          </a:prstGeom>
        </p:spPr>
      </p:pic>
      <p:sp>
        <p:nvSpPr>
          <p:cNvPr id="59" name="Text 41"/>
          <p:cNvSpPr/>
          <p:nvPr/>
        </p:nvSpPr>
        <p:spPr>
          <a:xfrm>
            <a:off x="9855164" y="2501850"/>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Write-back</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CAPS, webhook</a:t>
            </a:r>
            <a:endParaRPr lang="en-US" sz="1200" dirty="0"/>
          </a:p>
        </p:txBody>
      </p:sp>
      <p:sp>
        <p:nvSpPr>
          <p:cNvPr id="60" name="Shape 42"/>
          <p:cNvSpPr/>
          <p:nvPr/>
        </p:nvSpPr>
        <p:spPr>
          <a:xfrm>
            <a:off x="10312384" y="3174960"/>
            <a:ext cx="406387" cy="406387"/>
          </a:xfrm>
          <a:prstGeom prst="roundRect">
            <a:avLst>
              <a:gd name="adj" fmla="val 18751"/>
            </a:avLst>
          </a:prstGeom>
          <a:solidFill>
            <a:srgbClr val="5F6873"/>
          </a:solidFill>
          <a:ln/>
        </p:spPr>
      </p:sp>
      <p:pic>
        <p:nvPicPr>
          <p:cNvPr id="61" name="Image 16" descr="Cloud">    </p:cNvPr>
          <p:cNvPicPr>
            <a:picLocks noChangeAspect="1"/>
          </p:cNvPicPr>
          <p:nvPr/>
        </p:nvPicPr>
        <p:blipFill>
          <a:blip r:embed="rId17"/>
          <a:srcRect l="0" r="0" t="0" b="0"/>
          <a:stretch/>
        </p:blipFill>
        <p:spPr>
          <a:xfrm>
            <a:off x="10401291" y="3263867"/>
            <a:ext cx="228572" cy="228572"/>
          </a:xfrm>
          <a:prstGeom prst="rect">
            <a:avLst/>
          </a:prstGeom>
        </p:spPr>
      </p:pic>
      <p:sp>
        <p:nvSpPr>
          <p:cNvPr id="62" name="Text 43"/>
          <p:cNvSpPr/>
          <p:nvPr/>
        </p:nvSpPr>
        <p:spPr>
          <a:xfrm>
            <a:off x="9855164" y="3632159"/>
            <a:ext cx="1320773" cy="391029"/>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B1F24"/>
                </a:solidFill>
                <a:latin typeface="Inter" pitchFamily="34" charset="0"/>
                <a:ea typeface="Inter" pitchFamily="34" charset="-122"/>
                <a:cs typeface="Inter" pitchFamily="34" charset="-120"/>
              </a:rPr>
              <a:t>LLM provider</a:t>
            </a:r>
            <a:endParaRPr lang="en-US" sz="1200" dirty="0"/>
          </a:p>
          <a:p>
            <a:pPr algn="ctr" indent="0" marL="0">
              <a:lnSpc>
                <a:spcPts val="1440"/>
              </a:lnSpc>
              <a:buNone/>
            </a:pPr>
            <a:r>
              <a:rPr lang="en-US" sz="1200" dirty="0">
                <a:solidFill>
                  <a:srgbClr val="545C66"/>
                </a:solidFill>
                <a:latin typeface="Inter" pitchFamily="34" charset="0"/>
                <a:ea typeface="Inter" pitchFamily="34" charset="-122"/>
                <a:cs typeface="Inter" pitchFamily="34" charset="-120"/>
              </a:rPr>
              <a:t>optional</a:t>
            </a:r>
            <a:endParaRPr lang="en-US" sz="1200" dirty="0"/>
          </a:p>
        </p:txBody>
      </p:sp>
      <p:sp>
        <p:nvSpPr>
          <p:cNvPr id="63" name="Shape 44"/>
          <p:cNvSpPr/>
          <p:nvPr/>
        </p:nvSpPr>
        <p:spPr>
          <a:xfrm>
            <a:off x="2539946" y="5968966"/>
            <a:ext cx="304763" cy="304763"/>
          </a:xfrm>
          <a:prstGeom prst="roundRect">
            <a:avLst>
              <a:gd name="adj" fmla="val 20836"/>
            </a:avLst>
          </a:prstGeom>
          <a:solidFill>
            <a:srgbClr val="0E7482"/>
          </a:solidFill>
          <a:ln/>
        </p:spPr>
      </p:sp>
      <p:pic>
        <p:nvPicPr>
          <p:cNvPr id="64" name="Image 17" descr="Link">    </p:cNvPr>
          <p:cNvPicPr>
            <a:picLocks noChangeAspect="1"/>
          </p:cNvPicPr>
          <p:nvPr/>
        </p:nvPicPr>
        <p:blipFill>
          <a:blip r:embed="rId18"/>
          <a:srcRect l="0" r="0" t="0" b="0"/>
          <a:stretch/>
        </p:blipFill>
        <p:spPr>
          <a:xfrm>
            <a:off x="2603420" y="6032440"/>
            <a:ext cx="177760" cy="177760"/>
          </a:xfrm>
          <a:prstGeom prst="rect">
            <a:avLst/>
          </a:prstGeom>
        </p:spPr>
      </p:pic>
      <p:sp>
        <p:nvSpPr>
          <p:cNvPr id="65" name="Text 45"/>
          <p:cNvSpPr/>
          <p:nvPr/>
        </p:nvSpPr>
        <p:spPr>
          <a:xfrm>
            <a:off x="2920954" y="6026136"/>
            <a:ext cx="1320773"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Audit ledger</a:t>
            </a:r>
            <a:endParaRPr lang="en-US" sz="1200" dirty="0"/>
          </a:p>
        </p:txBody>
      </p:sp>
      <p:sp>
        <p:nvSpPr>
          <p:cNvPr id="66" name="Shape 46"/>
          <p:cNvSpPr/>
          <p:nvPr/>
        </p:nvSpPr>
        <p:spPr>
          <a:xfrm>
            <a:off x="4292552" y="5968966"/>
            <a:ext cx="304763" cy="304763"/>
          </a:xfrm>
          <a:prstGeom prst="roundRect">
            <a:avLst>
              <a:gd name="adj" fmla="val 20836"/>
            </a:avLst>
          </a:prstGeom>
          <a:solidFill>
            <a:srgbClr val="D6242D"/>
          </a:solidFill>
          <a:ln/>
        </p:spPr>
      </p:sp>
      <p:pic>
        <p:nvPicPr>
          <p:cNvPr id="67" name="Image 18" descr="Trust">    </p:cNvPr>
          <p:cNvPicPr>
            <a:picLocks noChangeAspect="1"/>
          </p:cNvPicPr>
          <p:nvPr/>
        </p:nvPicPr>
        <p:blipFill>
          <a:blip r:embed="rId19"/>
          <a:srcRect l="0" r="0" t="0" b="0"/>
          <a:stretch/>
        </p:blipFill>
        <p:spPr>
          <a:xfrm>
            <a:off x="4356026" y="6032440"/>
            <a:ext cx="177760" cy="177760"/>
          </a:xfrm>
          <a:prstGeom prst="rect">
            <a:avLst/>
          </a:prstGeom>
        </p:spPr>
      </p:pic>
      <p:sp>
        <p:nvSpPr>
          <p:cNvPr id="68" name="Text 47"/>
          <p:cNvSpPr/>
          <p:nvPr/>
        </p:nvSpPr>
        <p:spPr>
          <a:xfrm>
            <a:off x="4673560" y="6026136"/>
            <a:ext cx="1320773"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Trust gate</a:t>
            </a:r>
            <a:endParaRPr lang="en-US" sz="1200" dirty="0"/>
          </a:p>
        </p:txBody>
      </p:sp>
      <p:sp>
        <p:nvSpPr>
          <p:cNvPr id="69" name="Shape 48"/>
          <p:cNvSpPr/>
          <p:nvPr/>
        </p:nvSpPr>
        <p:spPr>
          <a:xfrm>
            <a:off x="6045157" y="5968966"/>
            <a:ext cx="304763" cy="304763"/>
          </a:xfrm>
          <a:prstGeom prst="roundRect">
            <a:avLst>
              <a:gd name="adj" fmla="val 20836"/>
            </a:avLst>
          </a:prstGeom>
          <a:solidFill>
            <a:srgbClr val="D6242D"/>
          </a:solidFill>
          <a:ln/>
        </p:spPr>
      </p:sp>
      <p:pic>
        <p:nvPicPr>
          <p:cNvPr id="70" name="Image 19" descr="Search">    </p:cNvPr>
          <p:cNvPicPr>
            <a:picLocks noChangeAspect="1"/>
          </p:cNvPicPr>
          <p:nvPr/>
        </p:nvPicPr>
        <p:blipFill>
          <a:blip r:embed="rId20"/>
          <a:srcRect l="0" r="0" t="0" b="0"/>
          <a:stretch/>
        </p:blipFill>
        <p:spPr>
          <a:xfrm>
            <a:off x="6108631" y="6032440"/>
            <a:ext cx="177760" cy="177760"/>
          </a:xfrm>
          <a:prstGeom prst="rect">
            <a:avLst/>
          </a:prstGeom>
        </p:spPr>
      </p:pic>
      <p:sp>
        <p:nvSpPr>
          <p:cNvPr id="71" name="Text 49"/>
          <p:cNvSpPr/>
          <p:nvPr/>
        </p:nvSpPr>
        <p:spPr>
          <a:xfrm>
            <a:off x="6426165" y="6026136"/>
            <a:ext cx="1320773"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PHI guard</a:t>
            </a:r>
            <a:endParaRPr lang="en-US" sz="1200" dirty="0"/>
          </a:p>
        </p:txBody>
      </p:sp>
      <p:sp>
        <p:nvSpPr>
          <p:cNvPr id="72" name="Shape 50"/>
          <p:cNvSpPr/>
          <p:nvPr/>
        </p:nvSpPr>
        <p:spPr>
          <a:xfrm>
            <a:off x="7797762" y="5968966"/>
            <a:ext cx="304763" cy="304763"/>
          </a:xfrm>
          <a:prstGeom prst="roundRect">
            <a:avLst>
              <a:gd name="adj" fmla="val 20836"/>
            </a:avLst>
          </a:prstGeom>
          <a:solidFill>
            <a:srgbClr val="0E7482"/>
          </a:solidFill>
          <a:ln/>
        </p:spPr>
      </p:sp>
      <p:pic>
        <p:nvPicPr>
          <p:cNvPr id="73" name="Image 20" descr="Chart">    </p:cNvPr>
          <p:cNvPicPr>
            <a:picLocks noChangeAspect="1"/>
          </p:cNvPicPr>
          <p:nvPr/>
        </p:nvPicPr>
        <p:blipFill>
          <a:blip r:embed="rId21"/>
          <a:srcRect l="0" r="0" t="0" b="0"/>
          <a:stretch/>
        </p:blipFill>
        <p:spPr>
          <a:xfrm>
            <a:off x="7861236" y="6032440"/>
            <a:ext cx="177760" cy="177760"/>
          </a:xfrm>
          <a:prstGeom prst="rect">
            <a:avLst/>
          </a:prstGeom>
        </p:spPr>
      </p:pic>
      <p:sp>
        <p:nvSpPr>
          <p:cNvPr id="74" name="Text 51"/>
          <p:cNvSpPr/>
          <p:nvPr/>
        </p:nvSpPr>
        <p:spPr>
          <a:xfrm>
            <a:off x="8178771" y="6026136"/>
            <a:ext cx="1295394" cy="20821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B1F24"/>
                </a:solidFill>
                <a:latin typeface="Inter" pitchFamily="34" charset="0"/>
                <a:ea typeface="Inter" pitchFamily="34" charset="-122"/>
                <a:cs typeface="Inter" pitchFamily="34" charset="-120"/>
              </a:rPr>
              <a:t>FinOps budget</a:t>
            </a:r>
            <a:endParaRPr lang="en-US" sz="1200" dirty="0"/>
          </a:p>
        </p:txBody>
      </p:sp>
      <p:pic>
        <p:nvPicPr>
          <p:cNvPr id="75" name="Image 21" descr="connector">    </p:cNvPr>
          <p:cNvPicPr>
            <a:picLocks noChangeAspect="1"/>
          </p:cNvPicPr>
          <p:nvPr/>
        </p:nvPicPr>
        <p:blipFill>
          <a:blip r:embed="rId22"/>
          <a:srcRect l="-13" r="-13" t="0" b="0"/>
          <a:stretch/>
        </p:blipFill>
        <p:spPr>
          <a:xfrm>
            <a:off x="1701793" y="3327396"/>
            <a:ext cx="1422355" cy="101570"/>
          </a:xfrm>
          <a:prstGeom prst="rect">
            <a:avLst/>
          </a:prstGeom>
        </p:spPr>
      </p:pic>
      <p:pic>
        <p:nvPicPr>
          <p:cNvPr id="76" name="Image 22" descr="connector">    </p:cNvPr>
          <p:cNvPicPr>
            <a:picLocks noChangeAspect="1"/>
          </p:cNvPicPr>
          <p:nvPr/>
        </p:nvPicPr>
        <p:blipFill>
          <a:blip r:embed="rId23"/>
          <a:srcRect l="-12" r="-12" t="0" b="0"/>
          <a:stretch/>
        </p:blipFill>
        <p:spPr>
          <a:xfrm>
            <a:off x="3428966" y="3327396"/>
            <a:ext cx="965156" cy="101570"/>
          </a:xfrm>
          <a:prstGeom prst="rect">
            <a:avLst/>
          </a:prstGeom>
        </p:spPr>
      </p:pic>
      <p:pic>
        <p:nvPicPr>
          <p:cNvPr id="77" name="Image 23" descr="connector">    </p:cNvPr>
          <p:cNvPicPr>
            <a:picLocks noChangeAspect="1"/>
          </p:cNvPicPr>
          <p:nvPr/>
        </p:nvPicPr>
        <p:blipFill>
          <a:blip r:embed="rId24"/>
          <a:srcRect l="-14" r="-14" t="0" b="0"/>
          <a:stretch/>
        </p:blipFill>
        <p:spPr>
          <a:xfrm>
            <a:off x="4698993" y="3327396"/>
            <a:ext cx="1269973" cy="101570"/>
          </a:xfrm>
          <a:prstGeom prst="rect">
            <a:avLst/>
          </a:prstGeom>
        </p:spPr>
      </p:pic>
      <p:pic>
        <p:nvPicPr>
          <p:cNvPr id="78" name="Image 24" descr="connector">    </p:cNvPr>
          <p:cNvPicPr>
            <a:picLocks noChangeAspect="1"/>
          </p:cNvPicPr>
          <p:nvPr/>
        </p:nvPicPr>
        <p:blipFill>
          <a:blip r:embed="rId25"/>
          <a:srcRect l="0" r="0" t="-14" b="-14"/>
          <a:stretch/>
        </p:blipFill>
        <p:spPr>
          <a:xfrm>
            <a:off x="6070590" y="4000450"/>
            <a:ext cx="101570" cy="571485"/>
          </a:xfrm>
          <a:prstGeom prst="rect">
            <a:avLst/>
          </a:prstGeom>
        </p:spPr>
      </p:pic>
      <p:pic>
        <p:nvPicPr>
          <p:cNvPr id="79" name="Image 25" descr="connector">    </p:cNvPr>
          <p:cNvPicPr>
            <a:picLocks noChangeAspect="1"/>
          </p:cNvPicPr>
          <p:nvPr/>
        </p:nvPicPr>
        <p:blipFill>
          <a:blip r:embed="rId26"/>
          <a:srcRect l="-14" r="-14" t="0" b="0"/>
          <a:stretch/>
        </p:blipFill>
        <p:spPr>
          <a:xfrm>
            <a:off x="6273783" y="3200393"/>
            <a:ext cx="4089358" cy="101570"/>
          </a:xfrm>
          <a:prstGeom prst="rect">
            <a:avLst/>
          </a:prstGeom>
        </p:spPr>
      </p:pic>
      <p:pic>
        <p:nvPicPr>
          <p:cNvPr id="80" name="Image 26" descr="connector">    </p:cNvPr>
          <p:cNvPicPr>
            <a:picLocks noChangeAspect="1"/>
          </p:cNvPicPr>
          <p:nvPr/>
        </p:nvPicPr>
        <p:blipFill>
          <a:blip r:embed="rId27"/>
          <a:srcRect l="0" r="0" t="-2" b="-2"/>
          <a:stretch/>
        </p:blipFill>
        <p:spPr>
          <a:xfrm>
            <a:off x="6273783" y="3454398"/>
            <a:ext cx="1168349" cy="1117592"/>
          </a:xfrm>
          <a:prstGeom prst="rect">
            <a:avLst/>
          </a:prstGeom>
        </p:spPr>
      </p:pic>
      <p:pic>
        <p:nvPicPr>
          <p:cNvPr id="81" name="Image 27" descr="connector">    </p:cNvPr>
          <p:cNvPicPr>
            <a:picLocks noChangeAspect="1"/>
          </p:cNvPicPr>
          <p:nvPr/>
        </p:nvPicPr>
        <p:blipFill>
          <a:blip r:embed="rId28"/>
          <a:srcRect l="-12" r="-12" t="0" b="0"/>
          <a:stretch/>
        </p:blipFill>
        <p:spPr>
          <a:xfrm>
            <a:off x="7543757" y="4673560"/>
            <a:ext cx="965156" cy="101570"/>
          </a:xfrm>
          <a:prstGeom prst="rect">
            <a:avLst/>
          </a:prstGeom>
        </p:spPr>
      </p:pic>
      <p:pic>
        <p:nvPicPr>
          <p:cNvPr id="82" name="Image 28" descr="connector">    </p:cNvPr>
          <p:cNvPicPr>
            <a:picLocks noChangeAspect="1"/>
          </p:cNvPicPr>
          <p:nvPr/>
        </p:nvPicPr>
        <p:blipFill>
          <a:blip r:embed="rId29"/>
          <a:srcRect l="-12" r="-12" t="0" b="0"/>
          <a:stretch/>
        </p:blipFill>
        <p:spPr>
          <a:xfrm>
            <a:off x="7543757" y="2197088"/>
            <a:ext cx="965156" cy="101570"/>
          </a:xfrm>
          <a:prstGeom prst="rect">
            <a:avLst/>
          </a:prstGeom>
        </p:spPr>
      </p:pic>
      <p:pic>
        <p:nvPicPr>
          <p:cNvPr id="83" name="Image 29" descr="connector">    </p:cNvPr>
          <p:cNvPicPr>
            <a:picLocks noChangeAspect="1"/>
          </p:cNvPicPr>
          <p:nvPr/>
        </p:nvPicPr>
        <p:blipFill>
          <a:blip r:embed="rId30"/>
          <a:srcRect l="-13" r="-13" t="0" b="0"/>
          <a:stretch/>
        </p:blipFill>
        <p:spPr>
          <a:xfrm>
            <a:off x="8813784" y="2197088"/>
            <a:ext cx="1549357" cy="101570"/>
          </a:xfrm>
          <a:prstGeom prst="rect">
            <a:avLst/>
          </a:prstGeom>
        </p:spPr>
      </p:pic>
      <p:sp>
        <p:nvSpPr>
          <p:cNvPr id="84" name="Text 52"/>
          <p:cNvSpPr/>
          <p:nvPr/>
        </p:nvSpPr>
        <p:spPr>
          <a:xfrm>
            <a:off x="1892270" y="3073390"/>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D0451B"/>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85" name="Text 53"/>
          <p:cNvSpPr/>
          <p:nvPr/>
        </p:nvSpPr>
        <p:spPr>
          <a:xfrm>
            <a:off x="3784595" y="3073390"/>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86" name="Text 54"/>
          <p:cNvSpPr/>
          <p:nvPr/>
        </p:nvSpPr>
        <p:spPr>
          <a:xfrm>
            <a:off x="4889470" y="3073390"/>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87" name="Text 55"/>
          <p:cNvSpPr/>
          <p:nvPr/>
        </p:nvSpPr>
        <p:spPr>
          <a:xfrm>
            <a:off x="6197593" y="4159245"/>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7A828C"/>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88" name="Text 56"/>
          <p:cNvSpPr/>
          <p:nvPr/>
        </p:nvSpPr>
        <p:spPr>
          <a:xfrm>
            <a:off x="6756361" y="2946388"/>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0E7482"/>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5</a:t>
            </a:r>
            <a:endParaRPr lang="en-US" sz="1200" dirty="0"/>
          </a:p>
        </p:txBody>
      </p:sp>
      <p:sp>
        <p:nvSpPr>
          <p:cNvPr id="89" name="Text 57"/>
          <p:cNvSpPr/>
          <p:nvPr/>
        </p:nvSpPr>
        <p:spPr>
          <a:xfrm>
            <a:off x="6756361" y="3555968"/>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2F7A1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6</a:t>
            </a:r>
            <a:endParaRPr lang="en-US" sz="1200" dirty="0"/>
          </a:p>
        </p:txBody>
      </p:sp>
      <p:sp>
        <p:nvSpPr>
          <p:cNvPr id="90" name="Text 58"/>
          <p:cNvSpPr/>
          <p:nvPr/>
        </p:nvSpPr>
        <p:spPr>
          <a:xfrm>
            <a:off x="7658097" y="4419554"/>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2F7A1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7</a:t>
            </a:r>
            <a:endParaRPr lang="en-US" sz="1200" dirty="0"/>
          </a:p>
        </p:txBody>
      </p:sp>
      <p:sp>
        <p:nvSpPr>
          <p:cNvPr id="91" name="Text 59"/>
          <p:cNvSpPr/>
          <p:nvPr/>
        </p:nvSpPr>
        <p:spPr>
          <a:xfrm>
            <a:off x="7899386" y="1943082"/>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2563C9"/>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B</a:t>
            </a:r>
            <a:endParaRPr lang="en-US" sz="1200" dirty="0"/>
          </a:p>
        </p:txBody>
      </p:sp>
      <p:sp>
        <p:nvSpPr>
          <p:cNvPr id="92" name="Text 60"/>
          <p:cNvSpPr/>
          <p:nvPr/>
        </p:nvSpPr>
        <p:spPr>
          <a:xfrm>
            <a:off x="9042357" y="1943082"/>
            <a:ext cx="253951" cy="253951"/>
          </a:xfrm>
          <a:custGeom>
            <a:avLst/>
            <a:gdLst/>
            <a:ahLst/>
            <a:cxnLst/>
            <a:rect l="l" t="t" r="r" b="b"/>
            <a:pathLst>
              <a:path w="253951" h="253951">
                <a:moveTo>
                  <a:pt x="126976" y="0"/>
                </a:moveTo>
                <a:lnTo>
                  <a:pt x="126976" y="0"/>
                </a:lnTo>
                <a:arcTo hR="126976" wR="126976" stAng="16200000" swAng="5400000"/>
                <a:lnTo>
                  <a:pt x="253951" y="126976"/>
                </a:lnTo>
                <a:arcTo hR="126976" wR="126976" stAng="0" swAng="5400000"/>
                <a:lnTo>
                  <a:pt x="126976" y="253951"/>
                </a:lnTo>
                <a:arcTo hR="126976" wR="126976" stAng="5400000" swAng="5400000"/>
                <a:lnTo>
                  <a:pt x="0" y="126976"/>
                </a:lnTo>
                <a:arcTo hR="126976" wR="126976" stAng="10800000" swAng="5400000"/>
                <a:close/>
              </a:path>
            </a:pathLst>
          </a:custGeom>
          <a:solidFill>
            <a:srgbClr val="0E7482"/>
          </a:solidFill>
          <a:ln/>
        </p:spPr>
        <p:txBody>
          <a:bodyPr wrap="square" lIns="0" tIns="0" rIns="0" bIns="0" rtlCol="0" anchor="t">
            <a:normAutofit/>
          </a:bodyPr>
          <a:lstStyle/>
          <a:p>
            <a:pPr algn="ctr" indent="0" marL="0">
              <a:lnSpc>
                <a:spcPts val="2004"/>
              </a:lnSpc>
              <a:buNone/>
            </a:pPr>
            <a:r>
              <a:rPr lang="en-US" sz="1200" b="1" dirty="0">
                <a:solidFill>
                  <a:srgbClr val="FFFFFF"/>
                </a:solidFill>
                <a:latin typeface="Inter" pitchFamily="34" charset="0"/>
                <a:ea typeface="Inter" pitchFamily="34" charset="-122"/>
                <a:cs typeface="Inter" pitchFamily="34" charset="-120"/>
              </a:rPr>
              <a:t>A</a:t>
            </a:r>
            <a:endParaRPr lang="en-US" sz="1200" dirty="0"/>
          </a:p>
        </p:txBody>
      </p:sp>
      <p:sp>
        <p:nvSpPr>
          <p:cNvPr id="93" name="Text 61"/>
          <p:cNvSpPr/>
          <p:nvPr/>
        </p:nvSpPr>
        <p:spPr>
          <a:xfrm>
            <a:off x="8077201" y="3314679"/>
            <a:ext cx="1295394" cy="208214"/>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45C66"/>
                </a:solidFill>
                <a:latin typeface="Inter" pitchFamily="34" charset="0"/>
                <a:ea typeface="Inter" pitchFamily="34" charset="-122"/>
                <a:cs typeface="Inter" pitchFamily="34" charset="-120"/>
              </a:rPr>
              <a:t>PHI scrubbed</a:t>
            </a:r>
            <a:endParaRPr lang="en-US" sz="1200" dirty="0"/>
          </a:p>
        </p:txBody>
      </p:sp>
      <p:pic>
        <p:nvPicPr>
          <p:cNvPr id="94" name="Image 30" descr="Lock">    </p:cNvPr>
          <p:cNvPicPr>
            <a:picLocks noChangeAspect="1"/>
          </p:cNvPicPr>
          <p:nvPr/>
        </p:nvPicPr>
        <p:blipFill>
          <a:blip r:embed="rId31"/>
          <a:srcRect l="0" r="0" t="0" b="0"/>
          <a:stretch/>
        </p:blipFill>
        <p:spPr>
          <a:xfrm>
            <a:off x="2641570" y="4965660"/>
            <a:ext cx="177760" cy="177760"/>
          </a:xfrm>
          <a:prstGeom prst="rect">
            <a:avLst/>
          </a:prstGeom>
        </p:spPr>
      </p:pic>
      <p:sp>
        <p:nvSpPr>
          <p:cNvPr id="95" name="Text 62"/>
          <p:cNvSpPr/>
          <p:nvPr/>
        </p:nvSpPr>
        <p:spPr>
          <a:xfrm>
            <a:off x="2870197" y="4952998"/>
            <a:ext cx="2380715" cy="391029"/>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45C66"/>
                </a:solidFill>
                <a:latin typeface="Inter" pitchFamily="34" charset="0"/>
                <a:ea typeface="Inter" pitchFamily="34" charset="-122"/>
                <a:cs typeface="Inter" pitchFamily="34" charset="-120"/>
              </a:rPr>
              <a:t>No token → 401; every refusal is logged</a:t>
            </a:r>
            <a:endParaRPr lang="en-US" sz="1200" dirty="0"/>
          </a:p>
        </p:txBody>
      </p:sp>
      <p:sp>
        <p:nvSpPr>
          <p:cNvPr id="96" name="Text 63"/>
          <p:cNvSpPr/>
          <p:nvPr/>
        </p:nvSpPr>
        <p:spPr>
          <a:xfrm>
            <a:off x="9753560" y="4889470"/>
            <a:ext cx="1574779" cy="57384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45C66"/>
                </a:solidFill>
                <a:latin typeface="Inter" pitchFamily="34" charset="0"/>
                <a:ea typeface="Inter" pitchFamily="34" charset="-122"/>
                <a:cs typeface="Inter" pitchFamily="34" charset="-120"/>
              </a:rPr>
              <a:t>Mock LLM and dry-run adapter ship offline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ph type="title"/>
          </p:nvPr>
        </p:nvSpPr>
        <p:spPr>
          <a:xfrm>
            <a:off x="812774" y="812774"/>
            <a:ext cx="10883437" cy="41651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C43D14"/>
                </a:solidFill>
                <a:latin typeface="Inter" pitchFamily="34" charset="0"/>
                <a:ea typeface="Inter" pitchFamily="34" charset="-122"/>
                <a:cs typeface="Inter" pitchFamily="34" charset="-120"/>
              </a:rPr>
              <a:t>One request, hop by hop</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3208" y="1871347"/>
          <a:ext cx="10556009" cy="3303593"/>
        </p:xfrm>
        <a:graphic>
          <a:graphicData uri="http://schemas.openxmlformats.org/drawingml/2006/table">
            <a:tbl>
              <a:tblPr/>
              <a:tblGrid>
                <a:gridCol w="1055601"/>
                <a:gridCol w="3166803"/>
                <a:gridCol w="6333606"/>
              </a:tblGrid>
              <a:tr h="330359">
                <a:tc>
                  <a:txBody>
                    <a:bodyPr/>
                    <a:lstStyle/>
                    <a:p>
                      <a:pPr indent="0" marL="0">
                        <a:lnSpc>
                          <a:spcPts val="1680"/>
                        </a:lnSpc>
                        <a:buNone/>
                      </a:pPr>
                      <a:r>
                        <a:rPr lang="en-US" sz="1200" b="1" dirty="0">
                          <a:solidFill>
                            <a:srgbClr val="545C66"/>
                          </a:solidFill>
                          <a:latin typeface="Inter" pitchFamily="34" charset="0"/>
                          <a:ea typeface="Inter" pitchFamily="34" charset="-122"/>
                          <a:cs typeface="Inter" pitchFamily="34" charset="-120"/>
                        </a:rPr>
                        <a:t>Step</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B5B5B7"/>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B5B5B7"/>
                      </a:solidFill>
                      <a:prstDash val="solid"/>
                      <a:round/>
                      <a:headEnd type="none" w="med" len="med"/>
                      <a:tailEnd type="none" w="med" len="med"/>
                    </a:lnB>
                    <a:solidFill>
                      <a:srgbClr val="E2E3E5"/>
                    </a:solidFill>
                  </a:tcPr>
                </a:tc>
                <a:tc>
                  <a:txBody>
                    <a:bodyPr/>
                    <a:lstStyle/>
                    <a:p>
                      <a:pPr indent="0" marL="0">
                        <a:lnSpc>
                          <a:spcPts val="1680"/>
                        </a:lnSpc>
                        <a:buNone/>
                      </a:pPr>
                      <a:r>
                        <a:rPr lang="en-US" sz="1200" b="1" dirty="0">
                          <a:solidFill>
                            <a:srgbClr val="545C66"/>
                          </a:solidFill>
                          <a:latin typeface="Inter" pitchFamily="34" charset="0"/>
                          <a:ea typeface="Inter" pitchFamily="34" charset="-122"/>
                          <a:cs typeface="Inter" pitchFamily="34" charset="-120"/>
                        </a:rPr>
                        <a:t>Hop</a:t>
                      </a:r>
                      <a:endParaRPr lang="en-US" sz="1200" dirty="0">
                        <a:latin typeface="Inter" charset="0"/>
                        <a:ea typeface="Inter" charset="0"/>
                        <a:cs typeface="Inter" charset="0"/>
                      </a:endParaRPr>
                    </a:p>
                  </a:txBody>
                  <a:tcPr marL="53340" marR="53340" marT="53340" marB="53340" anchor="t">
                    <a:lnL w="12700" cap="flat" cmpd="sng" algn="ctr">
                      <a:solidFill>
                        <a:srgbClr val="B5B5B7"/>
                      </a:solidFill>
                      <a:prstDash val="solid"/>
                      <a:round/>
                      <a:headEnd type="none" w="med" len="med"/>
                      <a:tailEnd type="none" w="med" len="med"/>
                    </a:lnL>
                    <a:lnR w="12700" cap="flat" cmpd="sng" algn="ctr">
                      <a:solidFill>
                        <a:srgbClr val="B5B5B7"/>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B5B5B7"/>
                      </a:solidFill>
                      <a:prstDash val="solid"/>
                      <a:round/>
                      <a:headEnd type="none" w="med" len="med"/>
                      <a:tailEnd type="none" w="med" len="med"/>
                    </a:lnB>
                    <a:solidFill>
                      <a:srgbClr val="E2E3E5"/>
                    </a:solidFill>
                  </a:tcPr>
                </a:tc>
                <a:tc>
                  <a:txBody>
                    <a:bodyPr/>
                    <a:lstStyle/>
                    <a:p>
                      <a:pPr indent="0" marL="0">
                        <a:lnSpc>
                          <a:spcPts val="1680"/>
                        </a:lnSpc>
                        <a:buNone/>
                      </a:pPr>
                      <a:r>
                        <a:rPr lang="en-US" sz="1200" b="1" dirty="0">
                          <a:solidFill>
                            <a:srgbClr val="545C66"/>
                          </a:solidFill>
                          <a:latin typeface="Inter" pitchFamily="34" charset="0"/>
                          <a:ea typeface="Inter" pitchFamily="34" charset="-122"/>
                          <a:cs typeface="Inter" pitchFamily="34" charset="-120"/>
                        </a:rPr>
                        <a:t>Control at the crossing</a:t>
                      </a:r>
                      <a:endParaRPr lang="en-US" sz="1200" dirty="0">
                        <a:latin typeface="Inter" charset="0"/>
                        <a:ea typeface="Inter" charset="0"/>
                        <a:cs typeface="Inter" charset="0"/>
                      </a:endParaRPr>
                    </a:p>
                  </a:txBody>
                  <a:tcPr marL="53340" marR="53340" marT="53340" marB="53340" anchor="t">
                    <a:lnL w="12700" cap="flat" cmpd="sng" algn="ctr">
                      <a:solidFill>
                        <a:srgbClr val="B5B5B7"/>
                      </a:solidFill>
                      <a:prstDash val="solid"/>
                      <a:round/>
                      <a:headEnd type="none" w="med" len="med"/>
                      <a:tailEnd type="none" w="med" len="med"/>
                    </a:lnL>
                    <a:lnR w="12700" cap="flat" cmpd="sng" algn="ctr">
                      <a:solidFill>
                        <a:srgbClr val="B5B5B7"/>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B5B5B7"/>
                      </a:solidFill>
                      <a:prstDash val="solid"/>
                      <a:round/>
                      <a:headEnd type="none" w="med" len="med"/>
                      <a:tailEnd type="none" w="med" len="med"/>
                    </a:lnB>
                    <a:solidFill>
                      <a:srgbClr val="E2E3E5"/>
                    </a:solidFill>
                  </a:tcPr>
                </a:tc>
              </a:tr>
              <a:tr h="330359">
                <a:tc>
                  <a:txBody>
                    <a:bodyPr/>
                    <a:lstStyle/>
                    <a:p>
                      <a:pPr indent="0" marL="0">
                        <a:lnSpc>
                          <a:spcPts val="1680"/>
                        </a:lnSpc>
                        <a:buNone/>
                      </a:pPr>
                      <a:r>
                        <a:rPr lang="en-US" sz="1200" dirty="0">
                          <a:solidFill>
                            <a:srgbClr val="D0451B"/>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5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Browser → Middleware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5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HTTPS with a bearer token; no token → 401; 120 requests a minute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5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359">
                <a:tc>
                  <a:txBody>
                    <a:bodyPr/>
                    <a:lstStyle/>
                    <a:p>
                      <a:pPr indent="0" marL="0">
                        <a:lnSpc>
                          <a:spcPts val="1680"/>
                        </a:lnSpc>
                        <a:buNone/>
                      </a:pPr>
                      <a:r>
                        <a:rPr lang="en-US" sz="1200" dirty="0">
                          <a:solidFill>
                            <a:srgbClr val="2563C9"/>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Middleware → Route guard</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Principal re-resolved from the token; route permission checked</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r>
              <a:tr h="330359">
                <a:tc>
                  <a:txBody>
                    <a:bodyPr/>
                    <a:lstStyle/>
                    <a:p>
                      <a:pPr indent="0" marL="0">
                        <a:lnSpc>
                          <a:spcPts val="1680"/>
                        </a:lnSpc>
                        <a:buNone/>
                      </a:pPr>
                      <a:r>
                        <a:rPr lang="en-US" sz="1200" dirty="0">
                          <a:solidFill>
                            <a:srgbClr val="2563C9"/>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Route guard → Chat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RBAC and ABAC: no line-of-business grant → degraded answer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359">
                <a:tc>
                  <a:txBody>
                    <a:bodyPr/>
                    <a:lstStyle/>
                    <a:p>
                      <a:pPr indent="0" marL="0">
                        <a:lnSpc>
                          <a:spcPts val="1680"/>
                        </a:lnSpc>
                        <a:buNone/>
                      </a:pPr>
                      <a:r>
                        <a:rPr lang="en-US" sz="1200" dirty="0">
                          <a:solidFill>
                            <a:srgbClr val="545C66"/>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Chat → Context Brain</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Question grounded in the domain’s metrics, rules and vocabulary</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r>
              <a:tr h="330359">
                <a:tc>
                  <a:txBody>
                    <a:bodyPr/>
                    <a:lstStyle/>
                    <a:p>
                      <a:pPr indent="0" marL="0">
                        <a:lnSpc>
                          <a:spcPts val="1680"/>
                        </a:lnSpc>
                        <a:buNone/>
                      </a:pPr>
                      <a:r>
                        <a:rPr lang="en-US" sz="1200" dirty="0">
                          <a:solidFill>
                            <a:srgbClr val="0E7482"/>
                          </a:solidFill>
                          <a:latin typeface="Inter" pitchFamily="34" charset="0"/>
                          <a:ea typeface="Inter" pitchFamily="34" charset="-122"/>
                          <a:cs typeface="Inter" pitchFamily="34" charset="-120"/>
                        </a:rPr>
                        <a:t>5</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Chat → LLM provider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PHI scrubbed first; budget and kill switch; mock provider offline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359">
                <a:tc>
                  <a:txBody>
                    <a:bodyPr/>
                    <a:lstStyle/>
                    <a:p>
                      <a:pPr indent="0" marL="0">
                        <a:lnSpc>
                          <a:spcPts val="1680"/>
                        </a:lnSpc>
                        <a:buNone/>
                      </a:pPr>
                      <a:r>
                        <a:rPr lang="en-US" sz="1200" dirty="0">
                          <a:solidFill>
                            <a:srgbClr val="2F7A19"/>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Chat → Data gate</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Scope pushed down; one read-only statement; execute() is final</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r>
              <a:tr h="330359">
                <a:tc>
                  <a:txBody>
                    <a:bodyPr/>
                    <a:lstStyle/>
                    <a:p>
                      <a:pPr indent="0" marL="0">
                        <a:lnSpc>
                          <a:spcPts val="1680"/>
                        </a:lnSpc>
                        <a:buNone/>
                      </a:pPr>
                      <a:r>
                        <a:rPr lang="en-US" sz="1200" dirty="0">
                          <a:solidFill>
                            <a:srgbClr val="2F7A19"/>
                          </a:solidFill>
                          <a:latin typeface="Inter" pitchFamily="34" charset="0"/>
                          <a:ea typeface="Inter" pitchFamily="34" charset="-122"/>
                          <a:cs typeface="Inter" pitchFamily="34" charset="-120"/>
                        </a:rPr>
                        <a:t>7</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Data gate → Warehouse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Row-capped query over only the caller’s lines of business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359">
                <a:tc>
                  <a:txBody>
                    <a:bodyPr/>
                    <a:lstStyle/>
                    <a:p>
                      <a:pPr indent="0" marL="0">
                        <a:lnSpc>
                          <a:spcPts val="1680"/>
                        </a:lnSpc>
                        <a:buNone/>
                      </a:pPr>
                      <a:r>
                        <a:rPr lang="en-US" sz="1200" dirty="0">
                          <a:solidFill>
                            <a:srgbClr val="0E7482"/>
                          </a:solidFill>
                          <a:latin typeface="Inter" pitchFamily="34" charset="0"/>
                          <a:ea typeface="Inter" pitchFamily="34" charset="-122"/>
                          <a:cs typeface="Inter" pitchFamily="34" charset="-120"/>
                        </a:rPr>
                        <a:t>A</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Actions → Write-back</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Two distinct officers sign and the trust gate clears; dry-run default</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tcPr>
                </a:tc>
              </a:tr>
              <a:tr h="330359">
                <a:tc>
                  <a:txBody>
                    <a:bodyPr/>
                    <a:lstStyle/>
                    <a:p>
                      <a:pPr indent="0" marL="0">
                        <a:lnSpc>
                          <a:spcPts val="1680"/>
                        </a:lnSpc>
                        <a:buNone/>
                      </a:pPr>
                      <a:r>
                        <a:rPr lang="en-US" sz="1200" dirty="0">
                          <a:solidFill>
                            <a:srgbClr val="2563C9"/>
                          </a:solidFill>
                          <a:latin typeface="Inter" pitchFamily="34" charset="0"/>
                          <a:ea typeface="Inter" pitchFamily="34" charset="-122"/>
                          <a:cs typeface="Inter" pitchFamily="34" charset="-120"/>
                        </a:rPr>
                        <a:t>B</a:t>
                      </a:r>
                      <a:endParaRPr lang="en-US" sz="1200" dirty="0">
                        <a:latin typeface="Inter" charset="0"/>
                        <a:ea typeface="Inter" charset="0"/>
                        <a:cs typeface="Inter" charset="0"/>
                      </a:endParaRPr>
                    </a:p>
                  </a:txBody>
                  <a:tcPr marL="53340" marR="53340" marT="53340" marB="53340" anchor="t">
                    <a:lnL w="12700" cap="flat" cmpd="sng" algn="ctr">
                      <a:solidFill>
                        <a:srgbClr val="C3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Simulator → Actions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B1F24"/>
                          </a:solidFill>
                          <a:latin typeface="Inter" pitchFamily="34" charset="0"/>
                          <a:ea typeface="Inter" pitchFamily="34" charset="-122"/>
                          <a:cs typeface="Inter" pitchFamily="34" charset="-120"/>
                        </a:rPr>
                        <a:t>Runs on a forked Brain; promotion proposes, never writes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774" y="5831909"/>
            <a:ext cx="10883437"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Each hop is appended to the answer’s audit trail, which the UI draws as the journey strip, and every call is hash-chained into the ledger.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74" y="812775"/>
            <a:ext cx="10883437" cy="41651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C43D14"/>
                </a:solidFill>
                <a:latin typeface="Inter" pitchFamily="34" charset="0"/>
                <a:ea typeface="Inter" pitchFamily="34" charset="-122"/>
                <a:cs typeface="Inter" pitchFamily="34" charset="-120"/>
              </a:rPr>
              <a:t>Eight stages behind every chat answer</a:t>
            </a:r>
            <a:endParaRPr lang="en-US" sz="2800" dirty="0"/>
          </a:p>
        </p:txBody>
      </p:sp>
      <p:sp>
        <p:nvSpPr>
          <p:cNvPr id="3" name="Shape 1"/>
          <p:cNvSpPr/>
          <p:nvPr/>
        </p:nvSpPr>
        <p:spPr>
          <a:xfrm>
            <a:off x="812774" y="1407085"/>
            <a:ext cx="2527284" cy="1325622"/>
          </a:xfrm>
          <a:prstGeom prst="roundRect">
            <a:avLst>
              <a:gd name="adj" fmla="val 3832"/>
            </a:avLst>
          </a:prstGeom>
          <a:solidFill>
            <a:srgbClr val="F4F5F7"/>
          </a:solidFill>
          <a:ln/>
        </p:spPr>
      </p:sp>
      <p:sp>
        <p:nvSpPr>
          <p:cNvPr id="4" name="Text 2"/>
          <p:cNvSpPr/>
          <p:nvPr/>
        </p:nvSpPr>
        <p:spPr>
          <a:xfrm>
            <a:off x="965156" y="1559466"/>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A1332B"/>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5" name="Text 3"/>
          <p:cNvSpPr/>
          <p:nvPr/>
        </p:nvSpPr>
        <p:spPr>
          <a:xfrm>
            <a:off x="1371488" y="1589953"/>
            <a:ext cx="1760887"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Access control</a:t>
            </a:r>
            <a:endParaRPr lang="en-US" sz="1600" dirty="0"/>
          </a:p>
        </p:txBody>
      </p:sp>
      <p:sp>
        <p:nvSpPr>
          <p:cNvPr id="6" name="Text 4"/>
          <p:cNvSpPr/>
          <p:nvPr/>
        </p:nvSpPr>
        <p:spPr>
          <a:xfrm>
            <a:off x="965156" y="1940420"/>
            <a:ext cx="2289197" cy="6653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RBAC and ABAC. No line-of-business grant → degraded answer.</a:t>
            </a:r>
            <a:endParaRPr lang="en-US" sz="1200" dirty="0"/>
          </a:p>
        </p:txBody>
      </p:sp>
      <p:sp>
        <p:nvSpPr>
          <p:cNvPr id="7" name="Shape 5"/>
          <p:cNvSpPr/>
          <p:nvPr/>
        </p:nvSpPr>
        <p:spPr>
          <a:xfrm>
            <a:off x="3492440" y="1407085"/>
            <a:ext cx="2527338" cy="1325622"/>
          </a:xfrm>
          <a:prstGeom prst="roundRect">
            <a:avLst>
              <a:gd name="adj" fmla="val 3832"/>
            </a:avLst>
          </a:prstGeom>
          <a:solidFill>
            <a:srgbClr val="F4F5F7"/>
          </a:solidFill>
          <a:ln/>
        </p:spPr>
      </p:sp>
      <p:sp>
        <p:nvSpPr>
          <p:cNvPr id="8" name="Text 6"/>
          <p:cNvSpPr/>
          <p:nvPr/>
        </p:nvSpPr>
        <p:spPr>
          <a:xfrm>
            <a:off x="3644821" y="1650873"/>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3C7F22"/>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4051154" y="1559466"/>
            <a:ext cx="1870730" cy="51297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Semantic grounding</a:t>
            </a:r>
            <a:endParaRPr lang="en-US" sz="1600" dirty="0"/>
          </a:p>
        </p:txBody>
      </p:sp>
      <p:sp>
        <p:nvSpPr>
          <p:cNvPr id="10" name="Text 8"/>
          <p:cNvSpPr/>
          <p:nvPr/>
        </p:nvSpPr>
        <p:spPr>
          <a:xfrm>
            <a:off x="3644821" y="2123235"/>
            <a:ext cx="228925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Graph-RAG maps the question onto the Brain’s metrics.</a:t>
            </a:r>
            <a:endParaRPr lang="en-US" sz="1200" dirty="0"/>
          </a:p>
        </p:txBody>
      </p:sp>
      <p:sp>
        <p:nvSpPr>
          <p:cNvPr id="11" name="Shape 9"/>
          <p:cNvSpPr/>
          <p:nvPr/>
        </p:nvSpPr>
        <p:spPr>
          <a:xfrm>
            <a:off x="6172160" y="1407085"/>
            <a:ext cx="2527338" cy="1325622"/>
          </a:xfrm>
          <a:prstGeom prst="roundRect">
            <a:avLst>
              <a:gd name="adj" fmla="val 3832"/>
            </a:avLst>
          </a:prstGeom>
          <a:solidFill>
            <a:srgbClr val="F4F5F7"/>
          </a:solidFill>
          <a:ln/>
        </p:spPr>
      </p:sp>
      <p:sp>
        <p:nvSpPr>
          <p:cNvPr id="12" name="Text 10"/>
          <p:cNvSpPr/>
          <p:nvPr/>
        </p:nvSpPr>
        <p:spPr>
          <a:xfrm>
            <a:off x="6324541" y="1559466"/>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C45500"/>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13" name="Text 11"/>
          <p:cNvSpPr/>
          <p:nvPr/>
        </p:nvSpPr>
        <p:spPr>
          <a:xfrm>
            <a:off x="6730874" y="1589953"/>
            <a:ext cx="1582073"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Intent routing</a:t>
            </a:r>
            <a:endParaRPr lang="en-US" sz="1600" dirty="0"/>
          </a:p>
        </p:txBody>
      </p:sp>
      <p:sp>
        <p:nvSpPr>
          <p:cNvPr id="14" name="Text 12"/>
          <p:cNvSpPr/>
          <p:nvPr/>
        </p:nvSpPr>
        <p:spPr>
          <a:xfrm>
            <a:off x="6324541" y="1940420"/>
            <a:ext cx="228925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LLM or rule router. An out-of-scope filter is refused here.</a:t>
            </a:r>
            <a:endParaRPr lang="en-US" sz="1200" dirty="0"/>
          </a:p>
        </p:txBody>
      </p:sp>
      <p:sp>
        <p:nvSpPr>
          <p:cNvPr id="15" name="Shape 13"/>
          <p:cNvSpPr/>
          <p:nvPr/>
        </p:nvSpPr>
        <p:spPr>
          <a:xfrm>
            <a:off x="8851879" y="1407085"/>
            <a:ext cx="2527338" cy="1325622"/>
          </a:xfrm>
          <a:prstGeom prst="roundRect">
            <a:avLst>
              <a:gd name="adj" fmla="val 3832"/>
            </a:avLst>
          </a:prstGeom>
          <a:solidFill>
            <a:srgbClr val="F4F5F7"/>
          </a:solidFill>
          <a:ln/>
        </p:spPr>
      </p:sp>
      <p:sp>
        <p:nvSpPr>
          <p:cNvPr id="16" name="Text 14"/>
          <p:cNvSpPr/>
          <p:nvPr/>
        </p:nvSpPr>
        <p:spPr>
          <a:xfrm>
            <a:off x="9004261" y="1559466"/>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7A3FD9"/>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17" name="Text 15"/>
          <p:cNvSpPr/>
          <p:nvPr/>
        </p:nvSpPr>
        <p:spPr>
          <a:xfrm>
            <a:off x="9410594" y="1589953"/>
            <a:ext cx="1505121"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Cache probe</a:t>
            </a:r>
            <a:endParaRPr lang="en-US" sz="1600" dirty="0"/>
          </a:p>
        </p:txBody>
      </p:sp>
      <p:sp>
        <p:nvSpPr>
          <p:cNvPr id="18" name="Text 16"/>
          <p:cNvSpPr/>
          <p:nvPr/>
        </p:nvSpPr>
        <p:spPr>
          <a:xfrm>
            <a:off x="9004261" y="1940420"/>
            <a:ext cx="228925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A hit replays the stored provenance receipt.</a:t>
            </a:r>
            <a:endParaRPr lang="en-US" sz="1200" dirty="0"/>
          </a:p>
        </p:txBody>
      </p:sp>
      <p:sp>
        <p:nvSpPr>
          <p:cNvPr id="19" name="Shape 17"/>
          <p:cNvSpPr/>
          <p:nvPr/>
        </p:nvSpPr>
        <p:spPr>
          <a:xfrm>
            <a:off x="812774" y="2885087"/>
            <a:ext cx="2527284" cy="1508436"/>
          </a:xfrm>
          <a:prstGeom prst="roundRect">
            <a:avLst>
              <a:gd name="adj" fmla="val 3368"/>
            </a:avLst>
          </a:prstGeom>
          <a:solidFill>
            <a:srgbClr val="F4F5F7"/>
          </a:solidFill>
          <a:ln/>
        </p:spPr>
      </p:sp>
      <p:sp>
        <p:nvSpPr>
          <p:cNvPr id="20" name="Text 18"/>
          <p:cNvSpPr/>
          <p:nvPr/>
        </p:nvSpPr>
        <p:spPr>
          <a:xfrm>
            <a:off x="965156" y="3037469"/>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C45500"/>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5</a:t>
            </a:r>
            <a:endParaRPr lang="en-US" sz="1200" dirty="0"/>
          </a:p>
        </p:txBody>
      </p:sp>
      <p:sp>
        <p:nvSpPr>
          <p:cNvPr id="21" name="Text 19"/>
          <p:cNvSpPr/>
          <p:nvPr/>
        </p:nvSpPr>
        <p:spPr>
          <a:xfrm>
            <a:off x="1371488" y="3067957"/>
            <a:ext cx="1818471"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SQL generation</a:t>
            </a:r>
            <a:endParaRPr lang="en-US" sz="1600" dirty="0"/>
          </a:p>
        </p:txBody>
      </p:sp>
      <p:sp>
        <p:nvSpPr>
          <p:cNvPr id="22" name="Text 20"/>
          <p:cNvSpPr/>
          <p:nvPr/>
        </p:nvSpPr>
        <p:spPr>
          <a:xfrm>
            <a:off x="965156" y="3418424"/>
            <a:ext cx="2289197"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LLM agent, or a governed template when it falls short.</a:t>
            </a:r>
            <a:endParaRPr lang="en-US" sz="1200" dirty="0"/>
          </a:p>
        </p:txBody>
      </p:sp>
      <p:sp>
        <p:nvSpPr>
          <p:cNvPr id="23" name="Shape 21"/>
          <p:cNvSpPr/>
          <p:nvPr/>
        </p:nvSpPr>
        <p:spPr>
          <a:xfrm>
            <a:off x="3492440" y="2885087"/>
            <a:ext cx="2527338" cy="1508436"/>
          </a:xfrm>
          <a:prstGeom prst="roundRect">
            <a:avLst>
              <a:gd name="adj" fmla="val 3368"/>
            </a:avLst>
          </a:prstGeom>
          <a:solidFill>
            <a:srgbClr val="F4F5F7"/>
          </a:solidFill>
          <a:ln/>
        </p:spPr>
      </p:sp>
      <p:sp>
        <p:nvSpPr>
          <p:cNvPr id="24" name="Text 22"/>
          <p:cNvSpPr/>
          <p:nvPr/>
        </p:nvSpPr>
        <p:spPr>
          <a:xfrm>
            <a:off x="3644821" y="3037469"/>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D6242D"/>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6</a:t>
            </a:r>
            <a:endParaRPr lang="en-US" sz="1200" dirty="0"/>
          </a:p>
        </p:txBody>
      </p:sp>
      <p:sp>
        <p:nvSpPr>
          <p:cNvPr id="25" name="Text 23"/>
          <p:cNvSpPr/>
          <p:nvPr/>
        </p:nvSpPr>
        <p:spPr>
          <a:xfrm>
            <a:off x="4051154" y="3067957"/>
            <a:ext cx="1968624"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Validate &amp; execute</a:t>
            </a:r>
            <a:endParaRPr lang="en-US" sz="1600" dirty="0"/>
          </a:p>
        </p:txBody>
      </p:sp>
      <p:sp>
        <p:nvSpPr>
          <p:cNvPr id="26" name="Text 24"/>
          <p:cNvSpPr/>
          <p:nvPr/>
        </p:nvSpPr>
        <p:spPr>
          <a:xfrm>
            <a:off x="3644821" y="3418424"/>
            <a:ext cx="228925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One read-only statement through the MCP data gate.</a:t>
            </a:r>
            <a:endParaRPr lang="en-US" sz="1200" dirty="0"/>
          </a:p>
        </p:txBody>
      </p:sp>
      <p:sp>
        <p:nvSpPr>
          <p:cNvPr id="27" name="Shape 25"/>
          <p:cNvSpPr/>
          <p:nvPr/>
        </p:nvSpPr>
        <p:spPr>
          <a:xfrm>
            <a:off x="6172160" y="2885087"/>
            <a:ext cx="2527338" cy="1508436"/>
          </a:xfrm>
          <a:prstGeom prst="roundRect">
            <a:avLst>
              <a:gd name="adj" fmla="val 3368"/>
            </a:avLst>
          </a:prstGeom>
          <a:solidFill>
            <a:srgbClr val="F4F5F7"/>
          </a:solidFill>
          <a:ln/>
        </p:spPr>
      </p:sp>
      <p:sp>
        <p:nvSpPr>
          <p:cNvPr id="28" name="Text 26"/>
          <p:cNvSpPr/>
          <p:nvPr/>
        </p:nvSpPr>
        <p:spPr>
          <a:xfrm>
            <a:off x="6324541" y="3037469"/>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D6242D"/>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7</a:t>
            </a:r>
            <a:endParaRPr lang="en-US" sz="1200" dirty="0"/>
          </a:p>
        </p:txBody>
      </p:sp>
      <p:sp>
        <p:nvSpPr>
          <p:cNvPr id="29" name="Text 27"/>
          <p:cNvSpPr/>
          <p:nvPr/>
        </p:nvSpPr>
        <p:spPr>
          <a:xfrm>
            <a:off x="6730874" y="3067957"/>
            <a:ext cx="1968624"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Root cause &amp; trust</a:t>
            </a:r>
            <a:endParaRPr lang="en-US" sz="1600" dirty="0"/>
          </a:p>
        </p:txBody>
      </p:sp>
      <p:sp>
        <p:nvSpPr>
          <p:cNvPr id="30" name="Text 28"/>
          <p:cNvSpPr/>
          <p:nvPr/>
        </p:nvSpPr>
        <p:spPr>
          <a:xfrm>
            <a:off x="6324541" y="3418424"/>
            <a:ext cx="228925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0.35 grounding, 0.30 gates, 0.20 sufficiency, 0.15 lineage.</a:t>
            </a:r>
            <a:endParaRPr lang="en-US" sz="1200" dirty="0"/>
          </a:p>
        </p:txBody>
      </p:sp>
      <p:sp>
        <p:nvSpPr>
          <p:cNvPr id="31" name="Shape 29"/>
          <p:cNvSpPr/>
          <p:nvPr/>
        </p:nvSpPr>
        <p:spPr>
          <a:xfrm>
            <a:off x="8851879" y="2885087"/>
            <a:ext cx="2527338" cy="1508436"/>
          </a:xfrm>
          <a:prstGeom prst="roundRect">
            <a:avLst>
              <a:gd name="adj" fmla="val 3368"/>
            </a:avLst>
          </a:prstGeom>
          <a:solidFill>
            <a:srgbClr val="F4F5F7"/>
          </a:solidFill>
          <a:ln/>
        </p:spPr>
      </p:sp>
      <p:sp>
        <p:nvSpPr>
          <p:cNvPr id="32" name="Text 30"/>
          <p:cNvSpPr/>
          <p:nvPr/>
        </p:nvSpPr>
        <p:spPr>
          <a:xfrm>
            <a:off x="9004261" y="3128876"/>
            <a:ext cx="304763" cy="304763"/>
          </a:xfrm>
          <a:custGeom>
            <a:avLst/>
            <a:gdLst/>
            <a:ahLst/>
            <a:cxnLst/>
            <a:rect l="l" t="t" r="r" b="b"/>
            <a:pathLst>
              <a:path w="304763" h="304763">
                <a:moveTo>
                  <a:pt x="63500" y="0"/>
                </a:moveTo>
                <a:lnTo>
                  <a:pt x="241263" y="0"/>
                </a:lnTo>
                <a:arcTo hR="63500" wR="63500" stAng="16200000" swAng="5400000"/>
                <a:lnTo>
                  <a:pt x="304763" y="241263"/>
                </a:lnTo>
                <a:arcTo hR="63500" wR="63500" stAng="0" swAng="5400000"/>
                <a:lnTo>
                  <a:pt x="63500" y="304763"/>
                </a:lnTo>
                <a:arcTo hR="63500" wR="63500" stAng="5400000" swAng="5400000"/>
                <a:lnTo>
                  <a:pt x="0" y="63500"/>
                </a:lnTo>
                <a:arcTo hR="63500" wR="63500" stAng="10800000" swAng="5400000"/>
                <a:close/>
              </a:path>
            </a:pathLst>
          </a:custGeom>
          <a:solidFill>
            <a:srgbClr val="C45500"/>
          </a:solidFill>
          <a:ln/>
        </p:spPr>
        <p:txBody>
          <a:bodyPr wrap="square" lIns="0" tIns="0" rIns="0" bIns="0" rtlCol="0" anchor="t">
            <a:normAutofit/>
          </a:bodyPr>
          <a:lstStyle/>
          <a:p>
            <a:pPr algn="ctr" indent="0" marL="0">
              <a:lnSpc>
                <a:spcPts val="2400"/>
              </a:lnSpc>
              <a:buNone/>
            </a:pPr>
            <a:r>
              <a:rPr lang="en-US" sz="1200" b="1" dirty="0">
                <a:solidFill>
                  <a:srgbClr val="FFFFFF"/>
                </a:solidFill>
                <a:latin typeface="Inter" pitchFamily="34" charset="0"/>
                <a:ea typeface="Inter" pitchFamily="34" charset="-122"/>
                <a:cs typeface="Inter" pitchFamily="34" charset="-120"/>
              </a:rPr>
              <a:t>8</a:t>
            </a:r>
            <a:endParaRPr lang="en-US" sz="1200" dirty="0"/>
          </a:p>
        </p:txBody>
      </p:sp>
      <p:sp>
        <p:nvSpPr>
          <p:cNvPr id="33" name="Text 31"/>
          <p:cNvSpPr/>
          <p:nvPr/>
        </p:nvSpPr>
        <p:spPr>
          <a:xfrm>
            <a:off x="9410594" y="3037469"/>
            <a:ext cx="1870730" cy="51297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Visualize &amp; narrate</a:t>
            </a:r>
            <a:endParaRPr lang="en-US" sz="1600" dirty="0"/>
          </a:p>
        </p:txBody>
      </p:sp>
      <p:sp>
        <p:nvSpPr>
          <p:cNvPr id="34" name="Text 32"/>
          <p:cNvSpPr/>
          <p:nvPr/>
        </p:nvSpPr>
        <p:spPr>
          <a:xfrm>
            <a:off x="9004261" y="3601238"/>
            <a:ext cx="2289252" cy="6653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Chart, narrative and provenance receipt, then cached.</a:t>
            </a:r>
            <a:endParaRPr lang="en-US" sz="1200" dirty="0"/>
          </a:p>
        </p:txBody>
      </p:sp>
      <p:sp>
        <p:nvSpPr>
          <p:cNvPr id="35" name="Shape 33"/>
          <p:cNvSpPr/>
          <p:nvPr/>
        </p:nvSpPr>
        <p:spPr>
          <a:xfrm>
            <a:off x="812774" y="4596718"/>
            <a:ext cx="5207004" cy="944668"/>
          </a:xfrm>
          <a:prstGeom prst="roundRect">
            <a:avLst>
              <a:gd name="adj" fmla="val 5378"/>
            </a:avLst>
          </a:prstGeom>
          <a:solidFill>
            <a:srgbClr val="F4F5F7"/>
          </a:solidFill>
          <a:ln/>
        </p:spPr>
      </p:sp>
      <p:sp>
        <p:nvSpPr>
          <p:cNvPr id="36" name="Shape 34"/>
          <p:cNvSpPr/>
          <p:nvPr/>
        </p:nvSpPr>
        <p:spPr>
          <a:xfrm>
            <a:off x="812774" y="4596718"/>
            <a:ext cx="5207004" cy="944668"/>
          </a:xfrm>
          <a:custGeom>
            <a:avLst/>
            <a:gdLst/>
            <a:ahLst/>
            <a:cxnLst/>
            <a:rect l="l" t="t" r="r" b="b"/>
            <a:pathLst>
              <a:path w="5207004" h="944668">
                <a:moveTo>
                  <a:pt x="50800" y="944668"/>
                </a:moveTo>
                <a:lnTo>
                  <a:pt x="50800" y="944668"/>
                </a:lnTo>
                <a:arcTo hR="50800" wR="50800" stAng="5400000" swAng="5400000"/>
                <a:lnTo>
                  <a:pt x="0" y="50800"/>
                </a:lnTo>
                <a:arcTo hR="50800" wR="50800" stAng="10800000" swAng="5400000"/>
                <a:lnTo>
                  <a:pt x="50800" y="0"/>
                </a:lnTo>
                <a:arcTo hR="50800" wR="12700" stAng="16200000" swAng="-5400000"/>
                <a:lnTo>
                  <a:pt x="38100" y="893868"/>
                </a:lnTo>
                <a:arcTo hR="50800" wR="12700" stAng="10800000" swAng="-5400000"/>
                <a:close/>
              </a:path>
            </a:pathLst>
          </a:custGeom>
          <a:solidFill>
            <a:srgbClr val="D6242D"/>
          </a:solidFill>
          <a:ln/>
        </p:spPr>
      </p:sp>
      <p:sp>
        <p:nvSpPr>
          <p:cNvPr id="37" name="Text 35"/>
          <p:cNvSpPr/>
          <p:nvPr/>
        </p:nvSpPr>
        <p:spPr>
          <a:xfrm>
            <a:off x="1025315" y="4820127"/>
            <a:ext cx="561202" cy="523194"/>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C43D14"/>
                </a:solidFill>
                <a:latin typeface="Inter" pitchFamily="34" charset="0"/>
                <a:ea typeface="Inter" pitchFamily="34" charset="-122"/>
                <a:cs typeface="Inter" pitchFamily="34" charset="-120"/>
              </a:rPr>
              <a:t>0.85</a:t>
            </a:r>
            <a:endParaRPr lang="en-US" sz="2800" dirty="0"/>
          </a:p>
        </p:txBody>
      </p:sp>
      <p:sp>
        <p:nvSpPr>
          <p:cNvPr id="38" name="Text 36"/>
          <p:cNvSpPr/>
          <p:nvPr/>
        </p:nvSpPr>
        <p:spPr>
          <a:xfrm>
            <a:off x="1738911" y="4855722"/>
            <a:ext cx="4226200" cy="45200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24"/>
                </a:solidFill>
                <a:latin typeface="Inter" pitchFamily="34" charset="0"/>
                <a:ea typeface="Inter" pitchFamily="34" charset="-122"/>
                <a:cs typeface="Inter" pitchFamily="34" charset="-120"/>
              </a:rPr>
              <a:t>Hard trust gate.</a:t>
            </a:r>
            <a:r>
              <a:rPr lang="en-US" sz="1200" dirty="0">
                <a:solidFill>
                  <a:srgbClr val="1B1F24"/>
                </a:solidFill>
                <a:latin typeface="Inter" pitchFamily="34" charset="0"/>
                <a:ea typeface="Inter" pitchFamily="34" charset="-122"/>
                <a:cs typeface="Inter" pitchFamily="34" charset="-120"/>
              </a:rPr>
              <a:t> Below it the SQL is withheld and the question goes to the review queue.</a:t>
            </a:r>
            <a:endParaRPr lang="en-US" sz="1200" dirty="0"/>
          </a:p>
        </p:txBody>
      </p:sp>
      <p:sp>
        <p:nvSpPr>
          <p:cNvPr id="39" name="Text 37"/>
          <p:cNvSpPr/>
          <p:nvPr/>
        </p:nvSpPr>
        <p:spPr>
          <a:xfrm>
            <a:off x="6172160" y="4596718"/>
            <a:ext cx="5207058" cy="944668"/>
          </a:xfrm>
          <a:prstGeom prst="roundRect">
            <a:avLst>
              <a:gd name="adj" fmla="val 5378"/>
            </a:avLst>
          </a:prstGeom>
          <a:solidFill>
            <a:srgbClr val="F4F5F7"/>
          </a:solidFill>
          <a:ln/>
        </p:spPr>
        <p:txBody>
          <a:bodyPr wrap="square" lIns="197662" tIns="124803" rIns="18379" bIns="124803" rtlCol="0" anchor="ctr">
            <a:normAutofit/>
          </a:bodyPr>
          <a:lstStyle/>
          <a:p>
            <a:pPr algn="l" indent="0" marL="0">
              <a:lnSpc>
                <a:spcPts val="1680"/>
              </a:lnSpc>
              <a:buNone/>
            </a:pPr>
            <a:r>
              <a:rPr lang="en-US" sz="1200" b="1" dirty="0">
                <a:solidFill>
                  <a:srgbClr val="1B1F24"/>
                </a:solidFill>
                <a:latin typeface="Inter" pitchFamily="34" charset="0"/>
                <a:ea typeface="Inter" pitchFamily="34" charset="-122"/>
                <a:cs typeface="Inter" pitchFamily="34" charset="-120"/>
              </a:rPr>
              <a:t>Fallback ladder.</a:t>
            </a:r>
            <a:r>
              <a:rPr lang="en-US" sz="1200" dirty="0">
                <a:solidFill>
                  <a:srgbClr val="1B1F24"/>
                </a:solidFill>
                <a:latin typeface="Inter" pitchFamily="34" charset="0"/>
                <a:ea typeface="Inter" pitchFamily="34" charset="-122"/>
                <a:cs typeface="Inter" pitchFamily="34" charset="-120"/>
              </a:rPr>
              <a:t> LLM-written SQL that ABAC refuses, that lacks the metric column or fails a gate is retried on a governed template. A model can never widen scope.</a:t>
            </a:r>
            <a:endParaRPr lang="en-US" sz="1200" dirty="0"/>
          </a:p>
        </p:txBody>
      </p:sp>
      <p:sp>
        <p:nvSpPr>
          <p:cNvPr id="40" name="Shape 38"/>
          <p:cNvSpPr/>
          <p:nvPr/>
        </p:nvSpPr>
        <p:spPr>
          <a:xfrm>
            <a:off x="6172160" y="4596718"/>
            <a:ext cx="5207058" cy="944668"/>
          </a:xfrm>
          <a:custGeom>
            <a:avLst/>
            <a:gdLst/>
            <a:ahLst/>
            <a:cxnLst/>
            <a:rect l="l" t="t" r="r" b="b"/>
            <a:pathLst>
              <a:path w="5207058" h="944668">
                <a:moveTo>
                  <a:pt x="50800" y="944668"/>
                </a:moveTo>
                <a:lnTo>
                  <a:pt x="50800" y="944668"/>
                </a:lnTo>
                <a:arcTo hR="50800" wR="50800" stAng="5400000" swAng="5400000"/>
                <a:lnTo>
                  <a:pt x="0" y="50800"/>
                </a:lnTo>
                <a:arcTo hR="50800" wR="50800" stAng="10800000" swAng="5400000"/>
                <a:lnTo>
                  <a:pt x="50800" y="0"/>
                </a:lnTo>
                <a:arcTo hR="50800" wR="12700" stAng="16200000" swAng="-5400000"/>
                <a:lnTo>
                  <a:pt x="38100" y="893868"/>
                </a:lnTo>
                <a:arcTo hR="50800" wR="12700" stAng="10800000" swAng="-5400000"/>
                <a:close/>
              </a:path>
            </a:pathLst>
          </a:custGeom>
          <a:solidFill>
            <a:srgbClr val="2563C9"/>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p:nvPr>
            <p:ph type="title"/>
          </p:nvPr>
        </p:nvSpPr>
        <p:spPr>
          <a:xfrm>
            <a:off x="812774" y="812775"/>
            <a:ext cx="10883437" cy="416516"/>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C43D14"/>
                </a:solidFill>
                <a:latin typeface="Inter" pitchFamily="34" charset="0"/>
                <a:ea typeface="Inter" pitchFamily="34" charset="-122"/>
                <a:cs typeface="Inter" pitchFamily="34" charset="-120"/>
              </a:rPr>
              <a:t>Writes need two signatures and leave a hash</a:t>
            </a:r>
            <a:endParaRPr lang="en-US" sz="2800" dirty="0"/>
          </a:p>
        </p:txBody>
      </p:sp>
      <p:sp>
        <p:nvSpPr>
          <p:cNvPr id="3" name="Shape 1"/>
          <p:cNvSpPr/>
          <p:nvPr/>
        </p:nvSpPr>
        <p:spPr>
          <a:xfrm>
            <a:off x="812774" y="1457840"/>
            <a:ext cx="2260671" cy="2275398"/>
          </a:xfrm>
          <a:prstGeom prst="roundRect">
            <a:avLst>
              <a:gd name="adj" fmla="val 2247"/>
            </a:avLst>
          </a:prstGeom>
          <a:solidFill>
            <a:srgbClr val="FFFFFF"/>
          </a:solidFill>
          <a:ln/>
        </p:spPr>
      </p:sp>
      <p:sp>
        <p:nvSpPr>
          <p:cNvPr id="4" name="Shape 2"/>
          <p:cNvSpPr/>
          <p:nvPr/>
        </p:nvSpPr>
        <p:spPr>
          <a:xfrm>
            <a:off x="1015968" y="1661033"/>
            <a:ext cx="355575" cy="355575"/>
          </a:xfrm>
          <a:prstGeom prst="roundRect">
            <a:avLst>
              <a:gd name="adj" fmla="val 17858"/>
            </a:avLst>
          </a:prstGeom>
          <a:solidFill>
            <a:srgbClr val="C45500"/>
          </a:solidFill>
          <a:ln/>
        </p:spPr>
      </p:sp>
      <p:pic>
        <p:nvPicPr>
          <p:cNvPr id="5" name="Image 0" descr="Activity">    </p:cNvPr>
          <p:cNvPicPr>
            <a:picLocks noChangeAspect="1"/>
          </p:cNvPicPr>
          <p:nvPr/>
        </p:nvPicPr>
        <p:blipFill>
          <a:blip r:embed="rId1"/>
          <a:srcRect l="0" r="0" t="0" b="0"/>
          <a:stretch/>
        </p:blipFill>
        <p:spPr>
          <a:xfrm>
            <a:off x="1092158" y="1737224"/>
            <a:ext cx="203194" cy="203194"/>
          </a:xfrm>
          <a:prstGeom prst="rect">
            <a:avLst/>
          </a:prstGeom>
        </p:spPr>
      </p:pic>
      <p:sp>
        <p:nvSpPr>
          <p:cNvPr id="6" name="Text 3"/>
          <p:cNvSpPr/>
          <p:nvPr/>
        </p:nvSpPr>
        <p:spPr>
          <a:xfrm>
            <a:off x="1015968" y="2118181"/>
            <a:ext cx="1909912"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1 Simulate</a:t>
            </a:r>
            <a:endParaRPr lang="en-US" sz="1600" dirty="0"/>
          </a:p>
        </p:txBody>
      </p:sp>
      <p:sp>
        <p:nvSpPr>
          <p:cNvPr id="7" name="Text 4"/>
          <p:cNvSpPr/>
          <p:nvPr/>
        </p:nvSpPr>
        <p:spPr>
          <a:xfrm>
            <a:off x="1015968" y="2463536"/>
            <a:ext cx="1909912" cy="87860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Overrides land on a deep copy of the Brain. Promotion proposes an action; it never writes.</a:t>
            </a:r>
            <a:endParaRPr lang="en-US" sz="1200" dirty="0"/>
          </a:p>
        </p:txBody>
      </p:sp>
      <p:pic>
        <p:nvPicPr>
          <p:cNvPr id="8" name="Image 1" descr="connector">    </p:cNvPr>
          <p:cNvPicPr>
            <a:picLocks noChangeAspect="1"/>
          </p:cNvPicPr>
          <p:nvPr/>
        </p:nvPicPr>
        <p:blipFill>
          <a:blip r:embed="rId2"/>
          <a:srcRect l="-9" r="-9" t="0" b="0"/>
          <a:stretch/>
        </p:blipFill>
        <p:spPr>
          <a:xfrm>
            <a:off x="3175014" y="1838796"/>
            <a:ext cx="304763" cy="101570"/>
          </a:xfrm>
          <a:prstGeom prst="rect">
            <a:avLst/>
          </a:prstGeom>
        </p:spPr>
      </p:pic>
      <p:sp>
        <p:nvSpPr>
          <p:cNvPr id="9" name="Shape 5"/>
          <p:cNvSpPr/>
          <p:nvPr/>
        </p:nvSpPr>
        <p:spPr>
          <a:xfrm>
            <a:off x="3581347" y="1457840"/>
            <a:ext cx="2260725" cy="2275398"/>
          </a:xfrm>
          <a:prstGeom prst="roundRect">
            <a:avLst>
              <a:gd name="adj" fmla="val 2247"/>
            </a:avLst>
          </a:prstGeom>
          <a:solidFill>
            <a:srgbClr val="FFFFFF"/>
          </a:solidFill>
          <a:ln/>
        </p:spPr>
      </p:sp>
      <p:sp>
        <p:nvSpPr>
          <p:cNvPr id="10" name="Shape 6"/>
          <p:cNvSpPr/>
          <p:nvPr/>
        </p:nvSpPr>
        <p:spPr>
          <a:xfrm>
            <a:off x="3784540" y="1661033"/>
            <a:ext cx="355575" cy="355575"/>
          </a:xfrm>
          <a:prstGeom prst="roundRect">
            <a:avLst>
              <a:gd name="adj" fmla="val 17858"/>
            </a:avLst>
          </a:prstGeom>
          <a:solidFill>
            <a:srgbClr val="A1332B"/>
          </a:solidFill>
          <a:ln/>
        </p:spPr>
      </p:sp>
      <p:pic>
        <p:nvPicPr>
          <p:cNvPr id="11" name="Image 2" descr="Users">    </p:cNvPr>
          <p:cNvPicPr>
            <a:picLocks noChangeAspect="1"/>
          </p:cNvPicPr>
          <p:nvPr/>
        </p:nvPicPr>
        <p:blipFill>
          <a:blip r:embed="rId3"/>
          <a:srcRect l="0" r="0" t="0" b="0"/>
          <a:stretch/>
        </p:blipFill>
        <p:spPr>
          <a:xfrm>
            <a:off x="3860731" y="1737224"/>
            <a:ext cx="203194" cy="203194"/>
          </a:xfrm>
          <a:prstGeom prst="rect">
            <a:avLst/>
          </a:prstGeom>
        </p:spPr>
      </p:pic>
      <p:sp>
        <p:nvSpPr>
          <p:cNvPr id="12" name="Text 7"/>
          <p:cNvSpPr/>
          <p:nvPr/>
        </p:nvSpPr>
        <p:spPr>
          <a:xfrm>
            <a:off x="3784540" y="2118181"/>
            <a:ext cx="1909968"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2 Approve twice</a:t>
            </a:r>
            <a:endParaRPr lang="en-US" sz="1600" dirty="0"/>
          </a:p>
        </p:txBody>
      </p:sp>
      <p:sp>
        <p:nvSpPr>
          <p:cNvPr id="13" name="Text 8"/>
          <p:cNvSpPr/>
          <p:nvPr/>
        </p:nvSpPr>
        <p:spPr>
          <a:xfrm>
            <a:off x="3784540" y="2463536"/>
            <a:ext cx="1909968" cy="6653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Two distinct compliance officers sign. The maker can’t be the checker.</a:t>
            </a:r>
            <a:endParaRPr lang="en-US" sz="1200" dirty="0"/>
          </a:p>
        </p:txBody>
      </p:sp>
      <p:pic>
        <p:nvPicPr>
          <p:cNvPr id="14" name="Image 3" descr="connector">    </p:cNvPr>
          <p:cNvPicPr>
            <a:picLocks noChangeAspect="1"/>
          </p:cNvPicPr>
          <p:nvPr/>
        </p:nvPicPr>
        <p:blipFill>
          <a:blip r:embed="rId4"/>
          <a:srcRect l="-9" r="-9" t="0" b="0"/>
          <a:stretch/>
        </p:blipFill>
        <p:spPr>
          <a:xfrm>
            <a:off x="5943641" y="1838796"/>
            <a:ext cx="304763" cy="101570"/>
          </a:xfrm>
          <a:prstGeom prst="rect">
            <a:avLst/>
          </a:prstGeom>
        </p:spPr>
      </p:pic>
      <p:sp>
        <p:nvSpPr>
          <p:cNvPr id="15" name="Shape 9"/>
          <p:cNvSpPr/>
          <p:nvPr/>
        </p:nvSpPr>
        <p:spPr>
          <a:xfrm>
            <a:off x="6349974" y="1457840"/>
            <a:ext cx="2260671" cy="2275398"/>
          </a:xfrm>
          <a:prstGeom prst="roundRect">
            <a:avLst>
              <a:gd name="adj" fmla="val 2247"/>
            </a:avLst>
          </a:prstGeom>
          <a:solidFill>
            <a:srgbClr val="FFFFFF"/>
          </a:solidFill>
          <a:ln/>
        </p:spPr>
      </p:sp>
      <p:sp>
        <p:nvSpPr>
          <p:cNvPr id="16" name="Shape 10"/>
          <p:cNvSpPr/>
          <p:nvPr/>
        </p:nvSpPr>
        <p:spPr>
          <a:xfrm>
            <a:off x="6553167" y="1661033"/>
            <a:ext cx="355575" cy="355575"/>
          </a:xfrm>
          <a:prstGeom prst="roundRect">
            <a:avLst>
              <a:gd name="adj" fmla="val 17858"/>
            </a:avLst>
          </a:prstGeom>
          <a:solidFill>
            <a:srgbClr val="C2185B"/>
          </a:solidFill>
          <a:ln/>
        </p:spPr>
      </p:sp>
      <p:pic>
        <p:nvPicPr>
          <p:cNvPr id="17" name="Image 4" descr="PaperPlane">    </p:cNvPr>
          <p:cNvPicPr>
            <a:picLocks noChangeAspect="1"/>
          </p:cNvPicPr>
          <p:nvPr/>
        </p:nvPicPr>
        <p:blipFill>
          <a:blip r:embed="rId5"/>
          <a:srcRect l="0" r="0" t="0" b="0"/>
          <a:stretch/>
        </p:blipFill>
        <p:spPr>
          <a:xfrm>
            <a:off x="6629358" y="1737224"/>
            <a:ext cx="203194" cy="203194"/>
          </a:xfrm>
          <a:prstGeom prst="rect">
            <a:avLst/>
          </a:prstGeom>
        </p:spPr>
      </p:pic>
      <p:sp>
        <p:nvSpPr>
          <p:cNvPr id="18" name="Text 11"/>
          <p:cNvSpPr/>
          <p:nvPr/>
        </p:nvSpPr>
        <p:spPr>
          <a:xfrm>
            <a:off x="6553167" y="2118181"/>
            <a:ext cx="1909912"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3 Execute</a:t>
            </a:r>
            <a:endParaRPr lang="en-US" sz="1600" dirty="0"/>
          </a:p>
        </p:txBody>
      </p:sp>
      <p:sp>
        <p:nvSpPr>
          <p:cNvPr id="19" name="Text 12"/>
          <p:cNvSpPr/>
          <p:nvPr/>
        </p:nvSpPr>
        <p:spPr>
          <a:xfrm>
            <a:off x="6553167" y="2463536"/>
            <a:ext cx="1909912" cy="109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A governed adapter writes: dry-run by default, CAPS or webhook when configured.</a:t>
            </a:r>
            <a:endParaRPr lang="en-US" sz="1200" dirty="0"/>
          </a:p>
        </p:txBody>
      </p:sp>
      <p:pic>
        <p:nvPicPr>
          <p:cNvPr id="20" name="Image 5" descr="connector">    </p:cNvPr>
          <p:cNvPicPr>
            <a:picLocks noChangeAspect="1"/>
          </p:cNvPicPr>
          <p:nvPr/>
        </p:nvPicPr>
        <p:blipFill>
          <a:blip r:embed="rId6"/>
          <a:srcRect l="-9" r="-9" t="0" b="0"/>
          <a:stretch/>
        </p:blipFill>
        <p:spPr>
          <a:xfrm>
            <a:off x="8712215" y="1838796"/>
            <a:ext cx="304763" cy="101570"/>
          </a:xfrm>
          <a:prstGeom prst="rect">
            <a:avLst/>
          </a:prstGeom>
        </p:spPr>
      </p:pic>
      <p:sp>
        <p:nvSpPr>
          <p:cNvPr id="21" name="Shape 13"/>
          <p:cNvSpPr/>
          <p:nvPr/>
        </p:nvSpPr>
        <p:spPr>
          <a:xfrm>
            <a:off x="9118547" y="1457840"/>
            <a:ext cx="2260671" cy="2275398"/>
          </a:xfrm>
          <a:prstGeom prst="roundRect">
            <a:avLst>
              <a:gd name="adj" fmla="val 2247"/>
            </a:avLst>
          </a:prstGeom>
          <a:solidFill>
            <a:srgbClr val="FFFFFF"/>
          </a:solidFill>
          <a:ln/>
        </p:spPr>
      </p:sp>
      <p:sp>
        <p:nvSpPr>
          <p:cNvPr id="22" name="Shape 14"/>
          <p:cNvSpPr/>
          <p:nvPr/>
        </p:nvSpPr>
        <p:spPr>
          <a:xfrm>
            <a:off x="9321740" y="1661033"/>
            <a:ext cx="355575" cy="355575"/>
          </a:xfrm>
          <a:prstGeom prst="roundRect">
            <a:avLst>
              <a:gd name="adj" fmla="val 17858"/>
            </a:avLst>
          </a:prstGeom>
          <a:solidFill>
            <a:srgbClr val="0E7482"/>
          </a:solidFill>
          <a:ln/>
        </p:spPr>
      </p:sp>
      <p:pic>
        <p:nvPicPr>
          <p:cNvPr id="23" name="Image 6" descr="Clock">    </p:cNvPr>
          <p:cNvPicPr>
            <a:picLocks noChangeAspect="1"/>
          </p:cNvPicPr>
          <p:nvPr/>
        </p:nvPicPr>
        <p:blipFill>
          <a:blip r:embed="rId7"/>
          <a:srcRect l="0" r="0" t="0" b="0"/>
          <a:stretch/>
        </p:blipFill>
        <p:spPr>
          <a:xfrm>
            <a:off x="9397931" y="1737224"/>
            <a:ext cx="203194" cy="203194"/>
          </a:xfrm>
          <a:prstGeom prst="rect">
            <a:avLst/>
          </a:prstGeom>
        </p:spPr>
      </p:pic>
      <p:sp>
        <p:nvSpPr>
          <p:cNvPr id="24" name="Text 15"/>
          <p:cNvSpPr/>
          <p:nvPr/>
        </p:nvSpPr>
        <p:spPr>
          <a:xfrm>
            <a:off x="9321740" y="2118181"/>
            <a:ext cx="1909912"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4 Reverse</a:t>
            </a:r>
            <a:endParaRPr lang="en-US" sz="1600" dirty="0"/>
          </a:p>
        </p:txBody>
      </p:sp>
      <p:sp>
        <p:nvSpPr>
          <p:cNvPr id="25" name="Text 16"/>
          <p:cNvSpPr/>
          <p:nvPr/>
        </p:nvSpPr>
        <p:spPr>
          <a:xfrm>
            <a:off x="9321740" y="2463536"/>
            <a:ext cx="1909912" cy="6653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Only by an append-only compensating entry that cites the original.</a:t>
            </a:r>
            <a:endParaRPr lang="en-US" sz="1200" dirty="0"/>
          </a:p>
        </p:txBody>
      </p:sp>
      <p:sp>
        <p:nvSpPr>
          <p:cNvPr id="26" name="Shape 17"/>
          <p:cNvSpPr/>
          <p:nvPr/>
        </p:nvSpPr>
        <p:spPr>
          <a:xfrm>
            <a:off x="819124" y="3993539"/>
            <a:ext cx="10553743" cy="1222112"/>
          </a:xfrm>
          <a:prstGeom prst="roundRect">
            <a:avLst>
              <a:gd name="adj" fmla="val 3637"/>
            </a:avLst>
          </a:prstGeom>
          <a:solidFill>
            <a:srgbClr val="ECEFFA"/>
          </a:solidFill>
          <a:ln w="12700">
            <a:solidFill>
              <a:srgbClr val="7680C4"/>
            </a:solidFill>
            <a:prstDash val="solid"/>
          </a:ln>
        </p:spPr>
      </p:sp>
      <p:sp>
        <p:nvSpPr>
          <p:cNvPr id="27" name="Shape 18"/>
          <p:cNvSpPr/>
          <p:nvPr/>
        </p:nvSpPr>
        <p:spPr>
          <a:xfrm>
            <a:off x="1026402" y="4200816"/>
            <a:ext cx="304763" cy="304763"/>
          </a:xfrm>
          <a:prstGeom prst="roundRect">
            <a:avLst>
              <a:gd name="adj" fmla="val 20836"/>
            </a:avLst>
          </a:prstGeom>
          <a:solidFill>
            <a:srgbClr val="0E7482"/>
          </a:solidFill>
          <a:ln/>
        </p:spPr>
      </p:sp>
      <p:pic>
        <p:nvPicPr>
          <p:cNvPr id="28" name="Image 7" descr="Link">    </p:cNvPr>
          <p:cNvPicPr>
            <a:picLocks noChangeAspect="1"/>
          </p:cNvPicPr>
          <p:nvPr/>
        </p:nvPicPr>
        <p:blipFill>
          <a:blip r:embed="rId8"/>
          <a:srcRect l="0" r="0" t="0" b="0"/>
          <a:stretch/>
        </p:blipFill>
        <p:spPr>
          <a:xfrm>
            <a:off x="1089876" y="4264292"/>
            <a:ext cx="177760" cy="177760"/>
          </a:xfrm>
          <a:prstGeom prst="rect">
            <a:avLst/>
          </a:prstGeom>
        </p:spPr>
      </p:pic>
      <p:sp>
        <p:nvSpPr>
          <p:cNvPr id="29" name="Text 19"/>
          <p:cNvSpPr/>
          <p:nvPr/>
        </p:nvSpPr>
        <p:spPr>
          <a:xfrm>
            <a:off x="1432734" y="4231305"/>
            <a:ext cx="2694415"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One ledger, two chains</a:t>
            </a:r>
            <a:endParaRPr lang="en-US" sz="1600" dirty="0"/>
          </a:p>
        </p:txBody>
      </p:sp>
      <p:sp>
        <p:nvSpPr>
          <p:cNvPr id="30" name="Text 20"/>
          <p:cNvSpPr/>
          <p:nvPr/>
        </p:nvSpPr>
        <p:spPr>
          <a:xfrm>
            <a:off x="1026402" y="4581773"/>
            <a:ext cx="5064701"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Every step is hashed into audit_log.jsonl: a per-call chain (v1) beside a SHA-256 chain with a monotonic seq and a persisted head (v2).</a:t>
            </a:r>
            <a:endParaRPr lang="en-US" sz="1200" dirty="0"/>
          </a:p>
        </p:txBody>
      </p:sp>
      <p:sp>
        <p:nvSpPr>
          <p:cNvPr id="31" name="Shape 21"/>
          <p:cNvSpPr/>
          <p:nvPr/>
        </p:nvSpPr>
        <p:spPr>
          <a:xfrm>
            <a:off x="6248350" y="4200816"/>
            <a:ext cx="304763" cy="304763"/>
          </a:xfrm>
          <a:prstGeom prst="roundRect">
            <a:avLst>
              <a:gd name="adj" fmla="val 20836"/>
            </a:avLst>
          </a:prstGeom>
          <a:solidFill>
            <a:srgbClr val="D6242D"/>
          </a:solidFill>
          <a:ln/>
        </p:spPr>
      </p:sp>
      <p:pic>
        <p:nvPicPr>
          <p:cNvPr id="32" name="Image 8" descr="Lock">    </p:cNvPr>
          <p:cNvPicPr>
            <a:picLocks noChangeAspect="1"/>
          </p:cNvPicPr>
          <p:nvPr/>
        </p:nvPicPr>
        <p:blipFill>
          <a:blip r:embed="rId9"/>
          <a:srcRect l="0" r="0" t="0" b="0"/>
          <a:stretch/>
        </p:blipFill>
        <p:spPr>
          <a:xfrm>
            <a:off x="6311824" y="4264292"/>
            <a:ext cx="177760" cy="177760"/>
          </a:xfrm>
          <a:prstGeom prst="rect">
            <a:avLst/>
          </a:prstGeom>
        </p:spPr>
      </p:pic>
      <p:sp>
        <p:nvSpPr>
          <p:cNvPr id="33" name="Text 22"/>
          <p:cNvSpPr/>
          <p:nvPr/>
        </p:nvSpPr>
        <p:spPr>
          <a:xfrm>
            <a:off x="6654683" y="4231305"/>
            <a:ext cx="1759322" cy="26918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Inter" pitchFamily="34" charset="0"/>
                <a:ea typeface="Inter" pitchFamily="34" charset="-122"/>
                <a:cs typeface="Inter" pitchFamily="34" charset="-120"/>
              </a:rPr>
              <a:t>Protected keys</a:t>
            </a:r>
            <a:endParaRPr lang="en-US" sz="1600" dirty="0"/>
          </a:p>
        </p:txBody>
      </p:sp>
      <p:sp>
        <p:nvSpPr>
          <p:cNvPr id="34" name="Text 23"/>
          <p:cNvSpPr/>
          <p:nvPr/>
        </p:nvSpPr>
        <p:spPr>
          <a:xfrm>
            <a:off x="6248350" y="4581773"/>
            <a:ext cx="5064757"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C66"/>
                </a:solidFill>
                <a:latin typeface="Inter" pitchFamily="34" charset="0"/>
                <a:ea typeface="Inter" pitchFamily="34" charset="-122"/>
                <a:cs typeface="Inter" pitchFamily="34" charset="-120"/>
              </a:rPr>
              <a:t>The dual-control threshold, severity triggers and trust gate are hardcoded, so no single officer can lower them and sign alone.</a:t>
            </a:r>
            <a:endParaRPr lang="en-US" sz="1200" dirty="0"/>
          </a:p>
        </p:txBody>
      </p:sp>
    </p:spTree>
  </p:cSld>
  <p:clrMapOvr>
    <a:masterClrMapping/>
  </p:clrMapOvr>
</p:sld>
</file>

<file path=ppt/theme/theme1.xml><?xml version="1.0" encoding="utf-8"?>
<a:theme xmlns:a="http://schemas.openxmlformats.org/drawingml/2006/main" name="OpPal Architecture">
  <a:themeElements>
    <a:clrScheme name="OpPal Architecture">
      <a:dk1>
        <a:srgbClr val="C43D14"/>
      </a:dk1>
      <a:lt1>
        <a:srgbClr val="FFFFFF"/>
      </a:lt1>
      <a:dk2>
        <a:srgbClr val="D36E4F"/>
      </a:dk2>
      <a:lt2>
        <a:srgbClr val="F9ECE8"/>
      </a:lt2>
      <a:accent1>
        <a:srgbClr val="D6242D"/>
      </a:accent1>
      <a:accent2>
        <a:srgbClr val="0E7482"/>
      </a:accent2>
      <a:accent3>
        <a:srgbClr val="A1332B"/>
      </a:accent3>
      <a:accent4>
        <a:srgbClr val="2563C9"/>
      </a:accent4>
      <a:accent5>
        <a:srgbClr val="E0353E"/>
      </a:accent5>
      <a:accent6>
        <a:srgbClr val="3C7F22"/>
      </a:accent6>
      <a:hlink>
        <a:srgbClr val="0563C1"/>
      </a:hlink>
      <a:folHlink>
        <a:srgbClr val="954F72"/>
      </a:folHlink>
    </a:clrScheme>
    <a:fontScheme name="OpPal Architectur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OpPal Architecture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2026-10-29T08:53:45Z</dcterms:created>
  <dcterms:modified xsi:type="dcterms:W3CDTF">2026-10-29T08:53:45Z</dcterms:modified>
</cp:coreProperties>
</file>